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60" r:id="rId3"/>
    <p:sldId id="299" r:id="rId4"/>
    <p:sldId id="300" r:id="rId5"/>
    <p:sldId id="301" r:id="rId6"/>
    <p:sldId id="293" r:id="rId7"/>
    <p:sldId id="294" r:id="rId8"/>
    <p:sldId id="273" r:id="rId9"/>
    <p:sldId id="274" r:id="rId10"/>
    <p:sldId id="292" r:id="rId11"/>
    <p:sldId id="296" r:id="rId12"/>
    <p:sldId id="287" r:id="rId13"/>
    <p:sldId id="286" r:id="rId14"/>
    <p:sldId id="297" r:id="rId15"/>
    <p:sldId id="302" r:id="rId16"/>
    <p:sldId id="303" r:id="rId17"/>
    <p:sldId id="304" r:id="rId18"/>
    <p:sldId id="28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sfia Ahsan" initials="TA" lastIdx="1" clrIdx="0">
    <p:extLst>
      <p:ext uri="{19B8F6BF-5375-455C-9EA6-DF929625EA0E}">
        <p15:presenceInfo xmlns:p15="http://schemas.microsoft.com/office/powerpoint/2012/main" userId="70c8c26b8af5c23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55953"/>
    <a:srgbClr val="FF9300"/>
    <a:srgbClr val="AB7942"/>
    <a:srgbClr val="02373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37"/>
    <p:restoredTop sz="94663"/>
  </p:normalViewPr>
  <p:slideViewPr>
    <p:cSldViewPr snapToGrid="0" snapToObjects="1">
      <p:cViewPr>
        <p:scale>
          <a:sx n="163" d="100"/>
          <a:sy n="163" d="100"/>
        </p:scale>
        <p:origin x="144"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hyperlink" Target="https://tasfiaahsan.github.io/Creating-Online-Experiments-with-PsychoPy/" TargetMode="External"/><Relationship Id="rId7" Type="http://schemas.openxmlformats.org/officeDocument/2006/relationships/image" Target="../media/image22.svg"/><Relationship Id="rId2" Type="http://schemas.openxmlformats.org/officeDocument/2006/relationships/hyperlink" Target="https://discourse.psychopy.org/" TargetMode="External"/><Relationship Id="rId1" Type="http://schemas.openxmlformats.org/officeDocument/2006/relationships/hyperlink" Target="mailto:ahsant@my.yorku.ca" TargetMode="Externa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 Id="rId9"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hyperlink" Target="mailto:ahsant@my.yorku.ca" TargetMode="External"/><Relationship Id="rId7" Type="http://schemas.openxmlformats.org/officeDocument/2006/relationships/image" Target="../media/image23.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hyperlink" Target="https://discourse.psychopy.org/" TargetMode="External"/><Relationship Id="rId5" Type="http://schemas.openxmlformats.org/officeDocument/2006/relationships/image" Target="../media/image22.svg"/><Relationship Id="rId4" Type="http://schemas.openxmlformats.org/officeDocument/2006/relationships/image" Target="../media/image21.png"/><Relationship Id="rId9" Type="http://schemas.openxmlformats.org/officeDocument/2006/relationships/hyperlink" Target="https://tasfiaahsan.github.io/Creating-Online-Experiments-with-PsychoPy/"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BBA872-B3AB-4B9C-B911-60C9AA7B5DB0}"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116EF26C-0002-42DA-9EEC-000CEF3670E8}">
      <dgm:prSet custT="1"/>
      <dgm:spPr/>
      <dgm:t>
        <a:bodyPr/>
        <a:lstStyle/>
        <a:p>
          <a:pPr>
            <a:lnSpc>
              <a:spcPct val="100000"/>
            </a:lnSpc>
          </a:pPr>
          <a:r>
            <a:rPr lang="en-US" sz="2400" dirty="0"/>
            <a:t>Reach out to me:  (</a:t>
          </a:r>
          <a:r>
            <a:rPr lang="en-US" sz="2400" dirty="0">
              <a:hlinkClick xmlns:r="http://schemas.openxmlformats.org/officeDocument/2006/relationships" r:id="rId1"/>
            </a:rPr>
            <a:t>ahsant@my.yorku.ca</a:t>
          </a:r>
          <a:r>
            <a:rPr lang="en-US" sz="2400" dirty="0"/>
            <a:t>) </a:t>
          </a:r>
        </a:p>
      </dgm:t>
    </dgm:pt>
    <dgm:pt modelId="{A07E93B7-34F3-43D5-9805-AB009CFC463D}" type="parTrans" cxnId="{5C7635F5-29E7-45C8-BA79-20979A59689B}">
      <dgm:prSet/>
      <dgm:spPr/>
      <dgm:t>
        <a:bodyPr/>
        <a:lstStyle/>
        <a:p>
          <a:endParaRPr lang="en-US"/>
        </a:p>
      </dgm:t>
    </dgm:pt>
    <dgm:pt modelId="{0E690826-A851-4894-870E-C945CAD4773A}" type="sibTrans" cxnId="{5C7635F5-29E7-45C8-BA79-20979A59689B}">
      <dgm:prSet/>
      <dgm:spPr/>
      <dgm:t>
        <a:bodyPr/>
        <a:lstStyle/>
        <a:p>
          <a:endParaRPr lang="en-US"/>
        </a:p>
      </dgm:t>
    </dgm:pt>
    <dgm:pt modelId="{6CDE23DB-9AD0-4183-88A8-FE0B45E0B0B2}">
      <dgm:prSet custT="1"/>
      <dgm:spPr/>
      <dgm:t>
        <a:bodyPr/>
        <a:lstStyle/>
        <a:p>
          <a:pPr>
            <a:lnSpc>
              <a:spcPct val="100000"/>
            </a:lnSpc>
          </a:pPr>
          <a:r>
            <a:rPr lang="en-US" sz="2400" dirty="0" err="1"/>
            <a:t>Psychopy</a:t>
          </a:r>
          <a:r>
            <a:rPr lang="en-US" sz="2400" dirty="0"/>
            <a:t> Help Forum: </a:t>
          </a:r>
          <a:r>
            <a:rPr lang="en-US" sz="2400" dirty="0">
              <a:hlinkClick xmlns:r="http://schemas.openxmlformats.org/officeDocument/2006/relationships" r:id="rId2"/>
            </a:rPr>
            <a:t>https://discourse.psychopy.org/</a:t>
          </a:r>
          <a:endParaRPr lang="en-US" sz="2400" dirty="0"/>
        </a:p>
      </dgm:t>
    </dgm:pt>
    <dgm:pt modelId="{F01D66AF-6935-4BB3-8E10-F80077099569}" type="parTrans" cxnId="{990C5FF4-D3A8-4422-BF57-308BCF34D357}">
      <dgm:prSet/>
      <dgm:spPr/>
      <dgm:t>
        <a:bodyPr/>
        <a:lstStyle/>
        <a:p>
          <a:endParaRPr lang="en-US"/>
        </a:p>
      </dgm:t>
    </dgm:pt>
    <dgm:pt modelId="{D5DD9423-27DE-403E-BFD8-5DBC078CF9FD}" type="sibTrans" cxnId="{990C5FF4-D3A8-4422-BF57-308BCF34D357}">
      <dgm:prSet/>
      <dgm:spPr/>
      <dgm:t>
        <a:bodyPr/>
        <a:lstStyle/>
        <a:p>
          <a:endParaRPr lang="en-US"/>
        </a:p>
      </dgm:t>
    </dgm:pt>
    <dgm:pt modelId="{AC841CE5-A6B7-4980-8E8D-CA8F14F12150}">
      <dgm:prSet custT="1"/>
      <dgm:spPr/>
      <dgm:t>
        <a:bodyPr/>
        <a:lstStyle/>
        <a:p>
          <a:pPr>
            <a:lnSpc>
              <a:spcPct val="100000"/>
            </a:lnSpc>
          </a:pPr>
          <a:r>
            <a:rPr lang="en-US" sz="2400" dirty="0"/>
            <a:t>Online Experiment: </a:t>
          </a:r>
          <a:r>
            <a:rPr lang="en-US" sz="2400" dirty="0">
              <a:hlinkClick xmlns:r="http://schemas.openxmlformats.org/officeDocument/2006/relationships" r:id="rId3"/>
            </a:rPr>
            <a:t>https://tasfiaahsan.github.io/Creating-Online-Experiments-with-PsychoPy/</a:t>
          </a:r>
          <a:endParaRPr lang="en-US" sz="2400" dirty="0"/>
        </a:p>
      </dgm:t>
    </dgm:pt>
    <dgm:pt modelId="{DE789A01-989A-4362-8D14-6C2D23A8B7FB}" type="parTrans" cxnId="{1C950D87-9AF1-453E-8F2C-16B3D71611AB}">
      <dgm:prSet/>
      <dgm:spPr/>
      <dgm:t>
        <a:bodyPr/>
        <a:lstStyle/>
        <a:p>
          <a:endParaRPr lang="en-US"/>
        </a:p>
      </dgm:t>
    </dgm:pt>
    <dgm:pt modelId="{1768E474-940C-48C4-9457-2D59E1442472}" type="sibTrans" cxnId="{1C950D87-9AF1-453E-8F2C-16B3D71611AB}">
      <dgm:prSet/>
      <dgm:spPr/>
      <dgm:t>
        <a:bodyPr/>
        <a:lstStyle/>
        <a:p>
          <a:endParaRPr lang="en-US"/>
        </a:p>
      </dgm:t>
    </dgm:pt>
    <dgm:pt modelId="{540DFAE4-6A4F-4812-83B3-E5648844AF04}" type="pres">
      <dgm:prSet presAssocID="{1BBBA872-B3AB-4B9C-B911-60C9AA7B5DB0}" presName="root" presStyleCnt="0">
        <dgm:presLayoutVars>
          <dgm:dir/>
          <dgm:resizeHandles val="exact"/>
        </dgm:presLayoutVars>
      </dgm:prSet>
      <dgm:spPr/>
    </dgm:pt>
    <dgm:pt modelId="{91D61663-4F83-4B36-B9F1-69D55EF92D5C}" type="pres">
      <dgm:prSet presAssocID="{116EF26C-0002-42DA-9EEC-000CEF3670E8}" presName="compNode" presStyleCnt="0"/>
      <dgm:spPr/>
    </dgm:pt>
    <dgm:pt modelId="{CCF0D8B8-CEAC-4B38-97DC-8D59454813B6}" type="pres">
      <dgm:prSet presAssocID="{116EF26C-0002-42DA-9EEC-000CEF3670E8}" presName="iconRect" presStyleLbl="node1" presStyleIdx="0" presStyleCnt="3" custLinFactNeighborY="8157"/>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Envelope"/>
        </a:ext>
      </dgm:extLst>
    </dgm:pt>
    <dgm:pt modelId="{D4906518-1291-4359-8220-77C999D44B14}" type="pres">
      <dgm:prSet presAssocID="{116EF26C-0002-42DA-9EEC-000CEF3670E8}" presName="spaceRect" presStyleCnt="0"/>
      <dgm:spPr/>
    </dgm:pt>
    <dgm:pt modelId="{10065C21-1CA7-4211-A6A8-41184ED205A0}" type="pres">
      <dgm:prSet presAssocID="{116EF26C-0002-42DA-9EEC-000CEF3670E8}" presName="textRect" presStyleLbl="revTx" presStyleIdx="0" presStyleCnt="3" custLinFactNeighborX="-2803" custLinFactNeighborY="-28129">
        <dgm:presLayoutVars>
          <dgm:chMax val="1"/>
          <dgm:chPref val="1"/>
        </dgm:presLayoutVars>
      </dgm:prSet>
      <dgm:spPr/>
    </dgm:pt>
    <dgm:pt modelId="{32C6DCF7-B6E7-4C52-B421-05453AE2CEBC}" type="pres">
      <dgm:prSet presAssocID="{0E690826-A851-4894-870E-C945CAD4773A}" presName="sibTrans" presStyleCnt="0"/>
      <dgm:spPr/>
    </dgm:pt>
    <dgm:pt modelId="{1F60E2E6-F449-42A3-A60F-9847FD88E385}" type="pres">
      <dgm:prSet presAssocID="{6CDE23DB-9AD0-4183-88A8-FE0B45E0B0B2}" presName="compNode" presStyleCnt="0"/>
      <dgm:spPr/>
    </dgm:pt>
    <dgm:pt modelId="{DF0D6B16-0B8E-41B9-9873-EA605E900C2D}" type="pres">
      <dgm:prSet presAssocID="{6CDE23DB-9AD0-4183-88A8-FE0B45E0B0B2}" presName="iconRect" presStyleLbl="node1" presStyleIdx="1" presStyleCnt="3" custLinFactNeighborY="489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Meeting"/>
        </a:ext>
      </dgm:extLst>
    </dgm:pt>
    <dgm:pt modelId="{7DD647AC-58E8-4C65-A617-0B6E943FF6C6}" type="pres">
      <dgm:prSet presAssocID="{6CDE23DB-9AD0-4183-88A8-FE0B45E0B0B2}" presName="spaceRect" presStyleCnt="0"/>
      <dgm:spPr/>
    </dgm:pt>
    <dgm:pt modelId="{2A1E8E06-1521-4747-B51E-52C857D24753}" type="pres">
      <dgm:prSet presAssocID="{6CDE23DB-9AD0-4183-88A8-FE0B45E0B0B2}" presName="textRect" presStyleLbl="revTx" presStyleIdx="1" presStyleCnt="3" custLinFactNeighborX="0" custLinFactNeighborY="-25829">
        <dgm:presLayoutVars>
          <dgm:chMax val="1"/>
          <dgm:chPref val="1"/>
        </dgm:presLayoutVars>
      </dgm:prSet>
      <dgm:spPr/>
    </dgm:pt>
    <dgm:pt modelId="{C5AE6181-FB3E-47E5-8130-2E0E5AAB5A21}" type="pres">
      <dgm:prSet presAssocID="{D5DD9423-27DE-403E-BFD8-5DBC078CF9FD}" presName="sibTrans" presStyleCnt="0"/>
      <dgm:spPr/>
    </dgm:pt>
    <dgm:pt modelId="{21EE2AEE-D17D-4FC5-BE0F-D3568245E0EC}" type="pres">
      <dgm:prSet presAssocID="{AC841CE5-A6B7-4980-8E8D-CA8F14F12150}" presName="compNode" presStyleCnt="0"/>
      <dgm:spPr/>
    </dgm:pt>
    <dgm:pt modelId="{CCA47E2B-6332-4722-A88B-C6D40530D39A}" type="pres">
      <dgm:prSet presAssocID="{AC841CE5-A6B7-4980-8E8D-CA8F14F12150}" presName="iconRect" presStyleLbl="node1" presStyleIdx="2" presStyleCnt="3" custLinFactNeighborX="-3031" custLinFactNeighborY="2422"/>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dgm:spPr>
      <dgm:extLst>
        <a:ext uri="{E40237B7-FDA0-4F09-8148-C483321AD2D9}">
          <dgm14:cNvPr xmlns:dgm14="http://schemas.microsoft.com/office/drawing/2010/diagram" id="0" name="" descr="Flask"/>
        </a:ext>
      </dgm:extLst>
    </dgm:pt>
    <dgm:pt modelId="{CBE6975C-67A6-4E41-80FC-E4CF07C3BC40}" type="pres">
      <dgm:prSet presAssocID="{AC841CE5-A6B7-4980-8E8D-CA8F14F12150}" presName="spaceRect" presStyleCnt="0"/>
      <dgm:spPr/>
    </dgm:pt>
    <dgm:pt modelId="{4344218E-ED43-4951-B18C-17C2A6917632}" type="pres">
      <dgm:prSet presAssocID="{AC841CE5-A6B7-4980-8E8D-CA8F14F12150}" presName="textRect" presStyleLbl="revTx" presStyleIdx="2" presStyleCnt="3" custScaleX="220979" custLinFactNeighborX="-1063" custLinFactNeighborY="-34809">
        <dgm:presLayoutVars>
          <dgm:chMax val="1"/>
          <dgm:chPref val="1"/>
        </dgm:presLayoutVars>
      </dgm:prSet>
      <dgm:spPr/>
    </dgm:pt>
  </dgm:ptLst>
  <dgm:cxnLst>
    <dgm:cxn modelId="{C43B3D0A-9F4D-431A-BAC8-7E35E87AE7AB}" type="presOf" srcId="{1BBBA872-B3AB-4B9C-B911-60C9AA7B5DB0}" destId="{540DFAE4-6A4F-4812-83B3-E5648844AF04}" srcOrd="0" destOrd="0" presId="urn:microsoft.com/office/officeart/2018/2/layout/IconLabelList"/>
    <dgm:cxn modelId="{B7203411-63FC-4DAA-9520-78744C4AAE09}" type="presOf" srcId="{116EF26C-0002-42DA-9EEC-000CEF3670E8}" destId="{10065C21-1CA7-4211-A6A8-41184ED205A0}" srcOrd="0" destOrd="0" presId="urn:microsoft.com/office/officeart/2018/2/layout/IconLabelList"/>
    <dgm:cxn modelId="{1C950D87-9AF1-453E-8F2C-16B3D71611AB}" srcId="{1BBBA872-B3AB-4B9C-B911-60C9AA7B5DB0}" destId="{AC841CE5-A6B7-4980-8E8D-CA8F14F12150}" srcOrd="2" destOrd="0" parTransId="{DE789A01-989A-4362-8D14-6C2D23A8B7FB}" sibTransId="{1768E474-940C-48C4-9457-2D59E1442472}"/>
    <dgm:cxn modelId="{F4ADE197-FC84-4327-A572-D53323AC0F18}" type="presOf" srcId="{6CDE23DB-9AD0-4183-88A8-FE0B45E0B0B2}" destId="{2A1E8E06-1521-4747-B51E-52C857D24753}" srcOrd="0" destOrd="0" presId="urn:microsoft.com/office/officeart/2018/2/layout/IconLabelList"/>
    <dgm:cxn modelId="{A66431A2-CBB6-4C4C-B0A3-059E40572A01}" type="presOf" srcId="{AC841CE5-A6B7-4980-8E8D-CA8F14F12150}" destId="{4344218E-ED43-4951-B18C-17C2A6917632}" srcOrd="0" destOrd="0" presId="urn:microsoft.com/office/officeart/2018/2/layout/IconLabelList"/>
    <dgm:cxn modelId="{990C5FF4-D3A8-4422-BF57-308BCF34D357}" srcId="{1BBBA872-B3AB-4B9C-B911-60C9AA7B5DB0}" destId="{6CDE23DB-9AD0-4183-88A8-FE0B45E0B0B2}" srcOrd="1" destOrd="0" parTransId="{F01D66AF-6935-4BB3-8E10-F80077099569}" sibTransId="{D5DD9423-27DE-403E-BFD8-5DBC078CF9FD}"/>
    <dgm:cxn modelId="{5C7635F5-29E7-45C8-BA79-20979A59689B}" srcId="{1BBBA872-B3AB-4B9C-B911-60C9AA7B5DB0}" destId="{116EF26C-0002-42DA-9EEC-000CEF3670E8}" srcOrd="0" destOrd="0" parTransId="{A07E93B7-34F3-43D5-9805-AB009CFC463D}" sibTransId="{0E690826-A851-4894-870E-C945CAD4773A}"/>
    <dgm:cxn modelId="{572A99FB-D28F-4614-BA44-04BD469ED701}" type="presParOf" srcId="{540DFAE4-6A4F-4812-83B3-E5648844AF04}" destId="{91D61663-4F83-4B36-B9F1-69D55EF92D5C}" srcOrd="0" destOrd="0" presId="urn:microsoft.com/office/officeart/2018/2/layout/IconLabelList"/>
    <dgm:cxn modelId="{569B2DD2-B1E7-42F9-839E-839617CA5989}" type="presParOf" srcId="{91D61663-4F83-4B36-B9F1-69D55EF92D5C}" destId="{CCF0D8B8-CEAC-4B38-97DC-8D59454813B6}" srcOrd="0" destOrd="0" presId="urn:microsoft.com/office/officeart/2018/2/layout/IconLabelList"/>
    <dgm:cxn modelId="{59920075-0026-4C6C-A906-1690EA6829AE}" type="presParOf" srcId="{91D61663-4F83-4B36-B9F1-69D55EF92D5C}" destId="{D4906518-1291-4359-8220-77C999D44B14}" srcOrd="1" destOrd="0" presId="urn:microsoft.com/office/officeart/2018/2/layout/IconLabelList"/>
    <dgm:cxn modelId="{F67972D7-DC02-4DD7-AF72-5F84FF6CD4A3}" type="presParOf" srcId="{91D61663-4F83-4B36-B9F1-69D55EF92D5C}" destId="{10065C21-1CA7-4211-A6A8-41184ED205A0}" srcOrd="2" destOrd="0" presId="urn:microsoft.com/office/officeart/2018/2/layout/IconLabelList"/>
    <dgm:cxn modelId="{0E2124C4-4C5B-413F-938B-E4A90810F55D}" type="presParOf" srcId="{540DFAE4-6A4F-4812-83B3-E5648844AF04}" destId="{32C6DCF7-B6E7-4C52-B421-05453AE2CEBC}" srcOrd="1" destOrd="0" presId="urn:microsoft.com/office/officeart/2018/2/layout/IconLabelList"/>
    <dgm:cxn modelId="{9C6C0D6D-8A36-46B9-AAC7-2071645E4975}" type="presParOf" srcId="{540DFAE4-6A4F-4812-83B3-E5648844AF04}" destId="{1F60E2E6-F449-42A3-A60F-9847FD88E385}" srcOrd="2" destOrd="0" presId="urn:microsoft.com/office/officeart/2018/2/layout/IconLabelList"/>
    <dgm:cxn modelId="{F9BFCB9F-D07C-40C2-A20A-188DAC76A0D4}" type="presParOf" srcId="{1F60E2E6-F449-42A3-A60F-9847FD88E385}" destId="{DF0D6B16-0B8E-41B9-9873-EA605E900C2D}" srcOrd="0" destOrd="0" presId="urn:microsoft.com/office/officeart/2018/2/layout/IconLabelList"/>
    <dgm:cxn modelId="{4D38A16E-0CCD-4E08-B61D-4D54F821B6A6}" type="presParOf" srcId="{1F60E2E6-F449-42A3-A60F-9847FD88E385}" destId="{7DD647AC-58E8-4C65-A617-0B6E943FF6C6}" srcOrd="1" destOrd="0" presId="urn:microsoft.com/office/officeart/2018/2/layout/IconLabelList"/>
    <dgm:cxn modelId="{C338708C-8D87-4A17-8EEC-A04AE433129A}" type="presParOf" srcId="{1F60E2E6-F449-42A3-A60F-9847FD88E385}" destId="{2A1E8E06-1521-4747-B51E-52C857D24753}" srcOrd="2" destOrd="0" presId="urn:microsoft.com/office/officeart/2018/2/layout/IconLabelList"/>
    <dgm:cxn modelId="{8057EEB6-7FEE-4A43-9CC6-A637A6162E87}" type="presParOf" srcId="{540DFAE4-6A4F-4812-83B3-E5648844AF04}" destId="{C5AE6181-FB3E-47E5-8130-2E0E5AAB5A21}" srcOrd="3" destOrd="0" presId="urn:microsoft.com/office/officeart/2018/2/layout/IconLabelList"/>
    <dgm:cxn modelId="{12F8D289-006C-4B8E-85AA-F6D559EFC3FE}" type="presParOf" srcId="{540DFAE4-6A4F-4812-83B3-E5648844AF04}" destId="{21EE2AEE-D17D-4FC5-BE0F-D3568245E0EC}" srcOrd="4" destOrd="0" presId="urn:microsoft.com/office/officeart/2018/2/layout/IconLabelList"/>
    <dgm:cxn modelId="{493E49F5-0C35-441F-B24E-5EF3F5E43B27}" type="presParOf" srcId="{21EE2AEE-D17D-4FC5-BE0F-D3568245E0EC}" destId="{CCA47E2B-6332-4722-A88B-C6D40530D39A}" srcOrd="0" destOrd="0" presId="urn:microsoft.com/office/officeart/2018/2/layout/IconLabelList"/>
    <dgm:cxn modelId="{9DAC8D9C-3F90-40AE-8D61-3342D4E95180}" type="presParOf" srcId="{21EE2AEE-D17D-4FC5-BE0F-D3568245E0EC}" destId="{CBE6975C-67A6-4E41-80FC-E4CF07C3BC40}" srcOrd="1" destOrd="0" presId="urn:microsoft.com/office/officeart/2018/2/layout/IconLabelList"/>
    <dgm:cxn modelId="{838873E9-5FC7-4F0E-B8CA-3DBDA6136EBF}" type="presParOf" srcId="{21EE2AEE-D17D-4FC5-BE0F-D3568245E0EC}" destId="{4344218E-ED43-4951-B18C-17C2A691763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F0D8B8-CEAC-4B38-97DC-8D59454813B6}">
      <dsp:nvSpPr>
        <dsp:cNvPr id="0" name=""/>
        <dsp:cNvSpPr/>
      </dsp:nvSpPr>
      <dsp:spPr>
        <a:xfrm>
          <a:off x="761894" y="851006"/>
          <a:ext cx="1131425" cy="113142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065C21-1CA7-4211-A6A8-41184ED205A0}">
      <dsp:nvSpPr>
        <dsp:cNvPr id="0" name=""/>
        <dsp:cNvSpPr/>
      </dsp:nvSpPr>
      <dsp:spPr>
        <a:xfrm>
          <a:off x="0" y="2062749"/>
          <a:ext cx="2514279" cy="88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Reach out to me:  (</a:t>
          </a:r>
          <a:r>
            <a:rPr lang="en-US" sz="2400" kern="1200" dirty="0">
              <a:hlinkClick xmlns:r="http://schemas.openxmlformats.org/officeDocument/2006/relationships" r:id="rId3"/>
            </a:rPr>
            <a:t>ahsant@my.yorku.ca</a:t>
          </a:r>
          <a:r>
            <a:rPr lang="en-US" sz="2400" kern="1200" dirty="0"/>
            <a:t>) </a:t>
          </a:r>
        </a:p>
      </dsp:txBody>
      <dsp:txXfrm>
        <a:off x="0" y="2062749"/>
        <a:ext cx="2514279" cy="883187"/>
      </dsp:txXfrm>
    </dsp:sp>
    <dsp:sp modelId="{DF0D6B16-0B8E-41B9-9873-EA605E900C2D}">
      <dsp:nvSpPr>
        <dsp:cNvPr id="0" name=""/>
        <dsp:cNvSpPr/>
      </dsp:nvSpPr>
      <dsp:spPr>
        <a:xfrm>
          <a:off x="3716172" y="814088"/>
          <a:ext cx="1131425" cy="1131425"/>
        </a:xfrm>
        <a:prstGeom prst="rect">
          <a:avLst/>
        </a:prstGeom>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1E8E06-1521-4747-B51E-52C857D24753}">
      <dsp:nvSpPr>
        <dsp:cNvPr id="0" name=""/>
        <dsp:cNvSpPr/>
      </dsp:nvSpPr>
      <dsp:spPr>
        <a:xfrm>
          <a:off x="3024745" y="2083062"/>
          <a:ext cx="2514279" cy="88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err="1"/>
            <a:t>Psychopy</a:t>
          </a:r>
          <a:r>
            <a:rPr lang="en-US" sz="2400" kern="1200" dirty="0"/>
            <a:t> Help Forum: </a:t>
          </a:r>
          <a:r>
            <a:rPr lang="en-US" sz="2400" kern="1200" dirty="0">
              <a:hlinkClick xmlns:r="http://schemas.openxmlformats.org/officeDocument/2006/relationships" r:id="rId6"/>
            </a:rPr>
            <a:t>https://discourse.psychopy.org/</a:t>
          </a:r>
          <a:endParaRPr lang="en-US" sz="2400" kern="1200" dirty="0"/>
        </a:p>
      </dsp:txBody>
      <dsp:txXfrm>
        <a:off x="3024745" y="2083062"/>
        <a:ext cx="2514279" cy="883187"/>
      </dsp:txXfrm>
    </dsp:sp>
    <dsp:sp modelId="{CCA47E2B-6332-4722-A88B-C6D40530D39A}">
      <dsp:nvSpPr>
        <dsp:cNvPr id="0" name=""/>
        <dsp:cNvSpPr/>
      </dsp:nvSpPr>
      <dsp:spPr>
        <a:xfrm>
          <a:off x="2204739" y="3850341"/>
          <a:ext cx="1131425" cy="113142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344218E-ED43-4951-B18C-17C2A6917632}">
      <dsp:nvSpPr>
        <dsp:cNvPr id="0" name=""/>
        <dsp:cNvSpPr/>
      </dsp:nvSpPr>
      <dsp:spPr>
        <a:xfrm>
          <a:off x="4" y="5067973"/>
          <a:ext cx="5556030" cy="8831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66800">
            <a:lnSpc>
              <a:spcPct val="100000"/>
            </a:lnSpc>
            <a:spcBef>
              <a:spcPct val="0"/>
            </a:spcBef>
            <a:spcAft>
              <a:spcPct val="35000"/>
            </a:spcAft>
            <a:buNone/>
          </a:pPr>
          <a:r>
            <a:rPr lang="en-US" sz="2400" kern="1200" dirty="0"/>
            <a:t>Online Experiment: </a:t>
          </a:r>
          <a:r>
            <a:rPr lang="en-US" sz="2400" kern="1200" dirty="0">
              <a:hlinkClick xmlns:r="http://schemas.openxmlformats.org/officeDocument/2006/relationships" r:id="rId9"/>
            </a:rPr>
            <a:t>https://tasfiaahsan.github.io/Creating-Online-Experiments-with-PsychoPy/</a:t>
          </a:r>
          <a:endParaRPr lang="en-US" sz="2400" kern="1200" dirty="0"/>
        </a:p>
      </dsp:txBody>
      <dsp:txXfrm>
        <a:off x="4" y="5067973"/>
        <a:ext cx="5556030" cy="883187"/>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349FFE-477A-A34A-8333-441828321E71}" type="datetimeFigureOut">
              <a:rPr lang="en-US" smtClean="0"/>
              <a:t>11/21/25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3C1373-032F-8445-86CD-29A57D7EEE00}" type="slidenum">
              <a:rPr lang="en-US" smtClean="0"/>
              <a:t>‹#›</a:t>
            </a:fld>
            <a:endParaRPr lang="en-US"/>
          </a:p>
        </p:txBody>
      </p:sp>
    </p:spTree>
    <p:extLst>
      <p:ext uri="{BB962C8B-B14F-4D97-AF65-F5344CB8AC3E}">
        <p14:creationId xmlns:p14="http://schemas.microsoft.com/office/powerpoint/2010/main" val="12168498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3C1373-032F-8445-86CD-29A57D7EEE00}" type="slidenum">
              <a:rPr lang="en-US" smtClean="0"/>
              <a:t>1</a:t>
            </a:fld>
            <a:endParaRPr lang="en-US"/>
          </a:p>
        </p:txBody>
      </p:sp>
    </p:spTree>
    <p:extLst>
      <p:ext uri="{BB962C8B-B14F-4D97-AF65-F5344CB8AC3E}">
        <p14:creationId xmlns:p14="http://schemas.microsoft.com/office/powerpoint/2010/main" val="1842863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613C1373-032F-8445-86CD-29A57D7EEE00}" type="slidenum">
              <a:rPr lang="en-US" smtClean="0"/>
              <a:t>4</a:t>
            </a:fld>
            <a:endParaRPr lang="en-US"/>
          </a:p>
        </p:txBody>
      </p:sp>
    </p:spTree>
    <p:extLst>
      <p:ext uri="{BB962C8B-B14F-4D97-AF65-F5344CB8AC3E}">
        <p14:creationId xmlns:p14="http://schemas.microsoft.com/office/powerpoint/2010/main" val="34806939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B60DC-B8A0-8273-1E95-A12036A04A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2094D8-BB71-C9B4-A6D1-578BBFED1A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3C3B1D-B964-37E1-F2A3-5740D681944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14118545-7D17-4408-F1E9-555D83C8F6A4}"/>
              </a:ext>
            </a:extLst>
          </p:cNvPr>
          <p:cNvSpPr>
            <a:spLocks noGrp="1"/>
          </p:cNvSpPr>
          <p:nvPr>
            <p:ph type="sldNum" sz="quarter" idx="5"/>
          </p:nvPr>
        </p:nvSpPr>
        <p:spPr/>
        <p:txBody>
          <a:bodyPr/>
          <a:lstStyle/>
          <a:p>
            <a:fld id="{613C1373-032F-8445-86CD-29A57D7EEE00}" type="slidenum">
              <a:rPr lang="en-US" smtClean="0"/>
              <a:t>5</a:t>
            </a:fld>
            <a:endParaRPr lang="en-US"/>
          </a:p>
        </p:txBody>
      </p:sp>
    </p:spTree>
    <p:extLst>
      <p:ext uri="{BB962C8B-B14F-4D97-AF65-F5344CB8AC3E}">
        <p14:creationId xmlns:p14="http://schemas.microsoft.com/office/powerpoint/2010/main" val="35574368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7A1F3-B0EA-028E-8FD7-4A9FE2F198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05D0D-2E05-662C-5A33-A32545245E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1F11CF-5558-F0AE-5095-54113CD5563C}"/>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5905AC8A-C5B7-0921-4946-F5E2EB52E4E5}"/>
              </a:ext>
            </a:extLst>
          </p:cNvPr>
          <p:cNvSpPr>
            <a:spLocks noGrp="1"/>
          </p:cNvSpPr>
          <p:nvPr>
            <p:ph type="sldNum" sz="quarter" idx="5"/>
          </p:nvPr>
        </p:nvSpPr>
        <p:spPr/>
        <p:txBody>
          <a:bodyPr/>
          <a:lstStyle/>
          <a:p>
            <a:fld id="{613C1373-032F-8445-86CD-29A57D7EEE00}" type="slidenum">
              <a:rPr lang="en-US" smtClean="0"/>
              <a:t>15</a:t>
            </a:fld>
            <a:endParaRPr lang="en-US"/>
          </a:p>
        </p:txBody>
      </p:sp>
    </p:spTree>
    <p:extLst>
      <p:ext uri="{BB962C8B-B14F-4D97-AF65-F5344CB8AC3E}">
        <p14:creationId xmlns:p14="http://schemas.microsoft.com/office/powerpoint/2010/main" val="8345595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15411-9623-C6AA-5BA0-8B04C1A272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C643B-AF0F-ADB3-BD51-8B88B80FA9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6F7136-8061-95B1-166C-002778665BCD}"/>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261E1CE-3341-5930-44A4-21A3E1D9BE1E}"/>
              </a:ext>
            </a:extLst>
          </p:cNvPr>
          <p:cNvSpPr>
            <a:spLocks noGrp="1"/>
          </p:cNvSpPr>
          <p:nvPr>
            <p:ph type="sldNum" sz="quarter" idx="5"/>
          </p:nvPr>
        </p:nvSpPr>
        <p:spPr/>
        <p:txBody>
          <a:bodyPr/>
          <a:lstStyle/>
          <a:p>
            <a:fld id="{613C1373-032F-8445-86CD-29A57D7EEE00}" type="slidenum">
              <a:rPr lang="en-US" smtClean="0"/>
              <a:t>16</a:t>
            </a:fld>
            <a:endParaRPr lang="en-US"/>
          </a:p>
        </p:txBody>
      </p:sp>
    </p:spTree>
    <p:extLst>
      <p:ext uri="{BB962C8B-B14F-4D97-AF65-F5344CB8AC3E}">
        <p14:creationId xmlns:p14="http://schemas.microsoft.com/office/powerpoint/2010/main" val="27144446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350FC-8B10-6162-43F0-5BB6D69C9E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0825C-BE9E-8776-781D-878ED6F8C9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498D0A-B674-AFA1-C54E-CBCCDB76DB6A}"/>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5316EA1-9B3D-C397-7AB5-2BB6A3625F31}"/>
              </a:ext>
            </a:extLst>
          </p:cNvPr>
          <p:cNvSpPr>
            <a:spLocks noGrp="1"/>
          </p:cNvSpPr>
          <p:nvPr>
            <p:ph type="sldNum" sz="quarter" idx="5"/>
          </p:nvPr>
        </p:nvSpPr>
        <p:spPr/>
        <p:txBody>
          <a:bodyPr/>
          <a:lstStyle/>
          <a:p>
            <a:fld id="{613C1373-032F-8445-86CD-29A57D7EEE00}" type="slidenum">
              <a:rPr lang="en-US" smtClean="0"/>
              <a:t>17</a:t>
            </a:fld>
            <a:endParaRPr lang="en-US"/>
          </a:p>
        </p:txBody>
      </p:sp>
    </p:spTree>
    <p:extLst>
      <p:ext uri="{BB962C8B-B14F-4D97-AF65-F5344CB8AC3E}">
        <p14:creationId xmlns:p14="http://schemas.microsoft.com/office/powerpoint/2010/main" val="2702077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72C4E-08A8-3245-B25A-49C497E89D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8AACE1-7E58-4343-BD24-07496DCE17C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0CDF72B-A50F-964D-9CBC-E9109D625608}"/>
              </a:ext>
            </a:extLst>
          </p:cNvPr>
          <p:cNvSpPr>
            <a:spLocks noGrp="1"/>
          </p:cNvSpPr>
          <p:nvPr>
            <p:ph type="dt" sz="half" idx="10"/>
          </p:nvPr>
        </p:nvSpPr>
        <p:spPr/>
        <p:txBody>
          <a:bodyPr/>
          <a:lstStyle/>
          <a:p>
            <a:fld id="{6EBDBEF2-8292-B34A-B76A-246221F65729}" type="datetimeFigureOut">
              <a:rPr lang="en-US" smtClean="0"/>
              <a:t>11/21/25</a:t>
            </a:fld>
            <a:endParaRPr lang="en-US"/>
          </a:p>
        </p:txBody>
      </p:sp>
      <p:sp>
        <p:nvSpPr>
          <p:cNvPr id="5" name="Footer Placeholder 4">
            <a:extLst>
              <a:ext uri="{FF2B5EF4-FFF2-40B4-BE49-F238E27FC236}">
                <a16:creationId xmlns:a16="http://schemas.microsoft.com/office/drawing/2014/main" id="{7418DE65-3A30-604B-B767-35778F751D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0A37EA-0A0F-BB4A-9410-4FFDFE9BEC3A}"/>
              </a:ext>
            </a:extLst>
          </p:cNvPr>
          <p:cNvSpPr>
            <a:spLocks noGrp="1"/>
          </p:cNvSpPr>
          <p:nvPr>
            <p:ph type="sldNum" sz="quarter" idx="12"/>
          </p:nvPr>
        </p:nvSpPr>
        <p:spPr/>
        <p:txBody>
          <a:bodyPr/>
          <a:lstStyle/>
          <a:p>
            <a:fld id="{C02D37F5-0316-5441-BA57-51D8C149D3F4}" type="slidenum">
              <a:rPr lang="en-US" smtClean="0"/>
              <a:t>‹#›</a:t>
            </a:fld>
            <a:endParaRPr lang="en-US"/>
          </a:p>
        </p:txBody>
      </p:sp>
    </p:spTree>
    <p:extLst>
      <p:ext uri="{BB962C8B-B14F-4D97-AF65-F5344CB8AC3E}">
        <p14:creationId xmlns:p14="http://schemas.microsoft.com/office/powerpoint/2010/main" val="198601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183EF-2D0C-F347-9A6A-4F889FE93B7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12C6F0-1BCF-7C49-9422-D5F1318B17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89CDCD-765C-AB40-8FBD-723FDBB267D5}"/>
              </a:ext>
            </a:extLst>
          </p:cNvPr>
          <p:cNvSpPr>
            <a:spLocks noGrp="1"/>
          </p:cNvSpPr>
          <p:nvPr>
            <p:ph type="dt" sz="half" idx="10"/>
          </p:nvPr>
        </p:nvSpPr>
        <p:spPr/>
        <p:txBody>
          <a:bodyPr/>
          <a:lstStyle/>
          <a:p>
            <a:fld id="{6EBDBEF2-8292-B34A-B76A-246221F65729}" type="datetimeFigureOut">
              <a:rPr lang="en-US" smtClean="0"/>
              <a:t>11/21/25</a:t>
            </a:fld>
            <a:endParaRPr lang="en-US"/>
          </a:p>
        </p:txBody>
      </p:sp>
      <p:sp>
        <p:nvSpPr>
          <p:cNvPr id="5" name="Footer Placeholder 4">
            <a:extLst>
              <a:ext uri="{FF2B5EF4-FFF2-40B4-BE49-F238E27FC236}">
                <a16:creationId xmlns:a16="http://schemas.microsoft.com/office/drawing/2014/main" id="{678E7859-7F65-274F-9368-367953246D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D4A11B-0DBA-D045-BE6C-8E1754F8DE2B}"/>
              </a:ext>
            </a:extLst>
          </p:cNvPr>
          <p:cNvSpPr>
            <a:spLocks noGrp="1"/>
          </p:cNvSpPr>
          <p:nvPr>
            <p:ph type="sldNum" sz="quarter" idx="12"/>
          </p:nvPr>
        </p:nvSpPr>
        <p:spPr/>
        <p:txBody>
          <a:bodyPr/>
          <a:lstStyle/>
          <a:p>
            <a:fld id="{C02D37F5-0316-5441-BA57-51D8C149D3F4}" type="slidenum">
              <a:rPr lang="en-US" smtClean="0"/>
              <a:t>‹#›</a:t>
            </a:fld>
            <a:endParaRPr lang="en-US"/>
          </a:p>
        </p:txBody>
      </p:sp>
    </p:spTree>
    <p:extLst>
      <p:ext uri="{BB962C8B-B14F-4D97-AF65-F5344CB8AC3E}">
        <p14:creationId xmlns:p14="http://schemas.microsoft.com/office/powerpoint/2010/main" val="498147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1D41C-15CA-2340-B5BF-7085FE787E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D96B24-5FBC-0E40-ACE2-3183D00217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57925EC-FCD1-2B4E-A22A-18073D831FBC}"/>
              </a:ext>
            </a:extLst>
          </p:cNvPr>
          <p:cNvSpPr>
            <a:spLocks noGrp="1"/>
          </p:cNvSpPr>
          <p:nvPr>
            <p:ph type="dt" sz="half" idx="10"/>
          </p:nvPr>
        </p:nvSpPr>
        <p:spPr/>
        <p:txBody>
          <a:bodyPr/>
          <a:lstStyle/>
          <a:p>
            <a:fld id="{6EBDBEF2-8292-B34A-B76A-246221F65729}" type="datetimeFigureOut">
              <a:rPr lang="en-US" smtClean="0"/>
              <a:t>11/21/25</a:t>
            </a:fld>
            <a:endParaRPr lang="en-US"/>
          </a:p>
        </p:txBody>
      </p:sp>
      <p:sp>
        <p:nvSpPr>
          <p:cNvPr id="5" name="Footer Placeholder 4">
            <a:extLst>
              <a:ext uri="{FF2B5EF4-FFF2-40B4-BE49-F238E27FC236}">
                <a16:creationId xmlns:a16="http://schemas.microsoft.com/office/drawing/2014/main" id="{E092F1EE-454F-534F-BD1B-B67200AF69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8CEDB8-1A9F-704A-A833-47CDA84BB4C2}"/>
              </a:ext>
            </a:extLst>
          </p:cNvPr>
          <p:cNvSpPr>
            <a:spLocks noGrp="1"/>
          </p:cNvSpPr>
          <p:nvPr>
            <p:ph type="sldNum" sz="quarter" idx="12"/>
          </p:nvPr>
        </p:nvSpPr>
        <p:spPr/>
        <p:txBody>
          <a:bodyPr/>
          <a:lstStyle/>
          <a:p>
            <a:fld id="{C02D37F5-0316-5441-BA57-51D8C149D3F4}" type="slidenum">
              <a:rPr lang="en-US" smtClean="0"/>
              <a:t>‹#›</a:t>
            </a:fld>
            <a:endParaRPr lang="en-US"/>
          </a:p>
        </p:txBody>
      </p:sp>
    </p:spTree>
    <p:extLst>
      <p:ext uri="{BB962C8B-B14F-4D97-AF65-F5344CB8AC3E}">
        <p14:creationId xmlns:p14="http://schemas.microsoft.com/office/powerpoint/2010/main" val="3644475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5D032-854E-9F42-8C5B-6497CAE1A2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0F5FE4-41BC-D049-93CF-59D662D595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5251C5-3ECB-DC4D-A1C5-B66BE44B54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2CD7120-7A95-B643-B2BC-93C233D8FD46}"/>
              </a:ext>
            </a:extLst>
          </p:cNvPr>
          <p:cNvSpPr>
            <a:spLocks noGrp="1"/>
          </p:cNvSpPr>
          <p:nvPr>
            <p:ph type="dt" sz="half" idx="10"/>
          </p:nvPr>
        </p:nvSpPr>
        <p:spPr/>
        <p:txBody>
          <a:bodyPr/>
          <a:lstStyle/>
          <a:p>
            <a:fld id="{6EBDBEF2-8292-B34A-B76A-246221F65729}" type="datetimeFigureOut">
              <a:rPr lang="en-US" smtClean="0"/>
              <a:t>11/21/25</a:t>
            </a:fld>
            <a:endParaRPr lang="en-US"/>
          </a:p>
        </p:txBody>
      </p:sp>
      <p:sp>
        <p:nvSpPr>
          <p:cNvPr id="6" name="Footer Placeholder 5">
            <a:extLst>
              <a:ext uri="{FF2B5EF4-FFF2-40B4-BE49-F238E27FC236}">
                <a16:creationId xmlns:a16="http://schemas.microsoft.com/office/drawing/2014/main" id="{10EE1217-4F06-FE40-B43E-1569FC62F3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AA41CF5-3D00-0F4C-957B-95C86C4CFF8E}"/>
              </a:ext>
            </a:extLst>
          </p:cNvPr>
          <p:cNvSpPr>
            <a:spLocks noGrp="1"/>
          </p:cNvSpPr>
          <p:nvPr>
            <p:ph type="sldNum" sz="quarter" idx="12"/>
          </p:nvPr>
        </p:nvSpPr>
        <p:spPr/>
        <p:txBody>
          <a:bodyPr/>
          <a:lstStyle/>
          <a:p>
            <a:fld id="{C02D37F5-0316-5441-BA57-51D8C149D3F4}" type="slidenum">
              <a:rPr lang="en-US" smtClean="0"/>
              <a:t>‹#›</a:t>
            </a:fld>
            <a:endParaRPr lang="en-US"/>
          </a:p>
        </p:txBody>
      </p:sp>
    </p:spTree>
    <p:extLst>
      <p:ext uri="{BB962C8B-B14F-4D97-AF65-F5344CB8AC3E}">
        <p14:creationId xmlns:p14="http://schemas.microsoft.com/office/powerpoint/2010/main" val="151322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7B0E6-5830-134C-9E6C-D162A8249E1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1E4D19-522C-494F-AB68-86293C6B81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A4B8E3-042D-5347-83B1-D7F8929CE76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013DC7-6CA9-514A-AE6F-CF0A275C53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7FCF8F-4E32-9845-BBCE-7FAF1E8065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0B623B0-C343-0845-9262-4BBD09F53CFF}"/>
              </a:ext>
            </a:extLst>
          </p:cNvPr>
          <p:cNvSpPr>
            <a:spLocks noGrp="1"/>
          </p:cNvSpPr>
          <p:nvPr>
            <p:ph type="dt" sz="half" idx="10"/>
          </p:nvPr>
        </p:nvSpPr>
        <p:spPr/>
        <p:txBody>
          <a:bodyPr/>
          <a:lstStyle/>
          <a:p>
            <a:fld id="{6EBDBEF2-8292-B34A-B76A-246221F65729}" type="datetimeFigureOut">
              <a:rPr lang="en-US" smtClean="0"/>
              <a:t>11/21/25</a:t>
            </a:fld>
            <a:endParaRPr lang="en-US"/>
          </a:p>
        </p:txBody>
      </p:sp>
      <p:sp>
        <p:nvSpPr>
          <p:cNvPr id="8" name="Footer Placeholder 7">
            <a:extLst>
              <a:ext uri="{FF2B5EF4-FFF2-40B4-BE49-F238E27FC236}">
                <a16:creationId xmlns:a16="http://schemas.microsoft.com/office/drawing/2014/main" id="{7311321F-B66D-5141-9644-856F4FD58F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CE04523-A70C-C148-9485-AB9CD8911D93}"/>
              </a:ext>
            </a:extLst>
          </p:cNvPr>
          <p:cNvSpPr>
            <a:spLocks noGrp="1"/>
          </p:cNvSpPr>
          <p:nvPr>
            <p:ph type="sldNum" sz="quarter" idx="12"/>
          </p:nvPr>
        </p:nvSpPr>
        <p:spPr/>
        <p:txBody>
          <a:bodyPr/>
          <a:lstStyle/>
          <a:p>
            <a:fld id="{C02D37F5-0316-5441-BA57-51D8C149D3F4}" type="slidenum">
              <a:rPr lang="en-US" smtClean="0"/>
              <a:t>‹#›</a:t>
            </a:fld>
            <a:endParaRPr lang="en-US"/>
          </a:p>
        </p:txBody>
      </p:sp>
    </p:spTree>
    <p:extLst>
      <p:ext uri="{BB962C8B-B14F-4D97-AF65-F5344CB8AC3E}">
        <p14:creationId xmlns:p14="http://schemas.microsoft.com/office/powerpoint/2010/main" val="3621880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DB20A-3D5D-2C47-8A1F-57F389AAF6F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538172-F1BD-8142-B55C-46C6DB64B911}"/>
              </a:ext>
            </a:extLst>
          </p:cNvPr>
          <p:cNvSpPr>
            <a:spLocks noGrp="1"/>
          </p:cNvSpPr>
          <p:nvPr>
            <p:ph type="dt" sz="half" idx="10"/>
          </p:nvPr>
        </p:nvSpPr>
        <p:spPr/>
        <p:txBody>
          <a:bodyPr/>
          <a:lstStyle/>
          <a:p>
            <a:fld id="{6EBDBEF2-8292-B34A-B76A-246221F65729}" type="datetimeFigureOut">
              <a:rPr lang="en-US" smtClean="0"/>
              <a:t>11/21/25</a:t>
            </a:fld>
            <a:endParaRPr lang="en-US"/>
          </a:p>
        </p:txBody>
      </p:sp>
      <p:sp>
        <p:nvSpPr>
          <p:cNvPr id="4" name="Footer Placeholder 3">
            <a:extLst>
              <a:ext uri="{FF2B5EF4-FFF2-40B4-BE49-F238E27FC236}">
                <a16:creationId xmlns:a16="http://schemas.microsoft.com/office/drawing/2014/main" id="{77323A18-632B-3146-8852-BBEF61F8B87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B4D406-345A-5E49-91E5-B61FA25A7CCF}"/>
              </a:ext>
            </a:extLst>
          </p:cNvPr>
          <p:cNvSpPr>
            <a:spLocks noGrp="1"/>
          </p:cNvSpPr>
          <p:nvPr>
            <p:ph type="sldNum" sz="quarter" idx="12"/>
          </p:nvPr>
        </p:nvSpPr>
        <p:spPr/>
        <p:txBody>
          <a:bodyPr/>
          <a:lstStyle/>
          <a:p>
            <a:fld id="{C02D37F5-0316-5441-BA57-51D8C149D3F4}" type="slidenum">
              <a:rPr lang="en-US" smtClean="0"/>
              <a:t>‹#›</a:t>
            </a:fld>
            <a:endParaRPr lang="en-US"/>
          </a:p>
        </p:txBody>
      </p:sp>
    </p:spTree>
    <p:extLst>
      <p:ext uri="{BB962C8B-B14F-4D97-AF65-F5344CB8AC3E}">
        <p14:creationId xmlns:p14="http://schemas.microsoft.com/office/powerpoint/2010/main" val="1006660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E5D1EE-81A9-3B44-816C-BFA2DB64BAF3}"/>
              </a:ext>
            </a:extLst>
          </p:cNvPr>
          <p:cNvSpPr>
            <a:spLocks noGrp="1"/>
          </p:cNvSpPr>
          <p:nvPr>
            <p:ph type="dt" sz="half" idx="10"/>
          </p:nvPr>
        </p:nvSpPr>
        <p:spPr/>
        <p:txBody>
          <a:bodyPr/>
          <a:lstStyle/>
          <a:p>
            <a:fld id="{6EBDBEF2-8292-B34A-B76A-246221F65729}" type="datetimeFigureOut">
              <a:rPr lang="en-US" smtClean="0"/>
              <a:t>11/21/25</a:t>
            </a:fld>
            <a:endParaRPr lang="en-US"/>
          </a:p>
        </p:txBody>
      </p:sp>
      <p:sp>
        <p:nvSpPr>
          <p:cNvPr id="3" name="Footer Placeholder 2">
            <a:extLst>
              <a:ext uri="{FF2B5EF4-FFF2-40B4-BE49-F238E27FC236}">
                <a16:creationId xmlns:a16="http://schemas.microsoft.com/office/drawing/2014/main" id="{33B5DA2C-C029-964A-9D83-5E472793290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3E5884D-FEFC-244F-87FB-7E80C527FCB8}"/>
              </a:ext>
            </a:extLst>
          </p:cNvPr>
          <p:cNvSpPr>
            <a:spLocks noGrp="1"/>
          </p:cNvSpPr>
          <p:nvPr>
            <p:ph type="sldNum" sz="quarter" idx="12"/>
          </p:nvPr>
        </p:nvSpPr>
        <p:spPr/>
        <p:txBody>
          <a:bodyPr/>
          <a:lstStyle/>
          <a:p>
            <a:fld id="{C02D37F5-0316-5441-BA57-51D8C149D3F4}" type="slidenum">
              <a:rPr lang="en-US" smtClean="0"/>
              <a:t>‹#›</a:t>
            </a:fld>
            <a:endParaRPr lang="en-US"/>
          </a:p>
        </p:txBody>
      </p:sp>
    </p:spTree>
    <p:extLst>
      <p:ext uri="{BB962C8B-B14F-4D97-AF65-F5344CB8AC3E}">
        <p14:creationId xmlns:p14="http://schemas.microsoft.com/office/powerpoint/2010/main" val="31618447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19002-4436-C844-8BE7-7944D6421A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8F0963-C153-C641-9D64-7E761908C8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5B4F05-9EF2-4941-8BA7-E529661DB8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B3F09A-502F-9C46-B347-5544AF83D968}"/>
              </a:ext>
            </a:extLst>
          </p:cNvPr>
          <p:cNvSpPr>
            <a:spLocks noGrp="1"/>
          </p:cNvSpPr>
          <p:nvPr>
            <p:ph type="dt" sz="half" idx="10"/>
          </p:nvPr>
        </p:nvSpPr>
        <p:spPr/>
        <p:txBody>
          <a:bodyPr/>
          <a:lstStyle/>
          <a:p>
            <a:fld id="{6EBDBEF2-8292-B34A-B76A-246221F65729}" type="datetimeFigureOut">
              <a:rPr lang="en-US" smtClean="0"/>
              <a:t>11/21/25</a:t>
            </a:fld>
            <a:endParaRPr lang="en-US"/>
          </a:p>
        </p:txBody>
      </p:sp>
      <p:sp>
        <p:nvSpPr>
          <p:cNvPr id="6" name="Footer Placeholder 5">
            <a:extLst>
              <a:ext uri="{FF2B5EF4-FFF2-40B4-BE49-F238E27FC236}">
                <a16:creationId xmlns:a16="http://schemas.microsoft.com/office/drawing/2014/main" id="{EE546A18-D5E2-A545-95B9-C22153E560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558E875-1A48-D542-8ECA-50E32324049A}"/>
              </a:ext>
            </a:extLst>
          </p:cNvPr>
          <p:cNvSpPr>
            <a:spLocks noGrp="1"/>
          </p:cNvSpPr>
          <p:nvPr>
            <p:ph type="sldNum" sz="quarter" idx="12"/>
          </p:nvPr>
        </p:nvSpPr>
        <p:spPr/>
        <p:txBody>
          <a:bodyPr/>
          <a:lstStyle/>
          <a:p>
            <a:fld id="{C02D37F5-0316-5441-BA57-51D8C149D3F4}" type="slidenum">
              <a:rPr lang="en-US" smtClean="0"/>
              <a:t>‹#›</a:t>
            </a:fld>
            <a:endParaRPr lang="en-US"/>
          </a:p>
        </p:txBody>
      </p:sp>
    </p:spTree>
    <p:extLst>
      <p:ext uri="{BB962C8B-B14F-4D97-AF65-F5344CB8AC3E}">
        <p14:creationId xmlns:p14="http://schemas.microsoft.com/office/powerpoint/2010/main" val="3619769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3744D-9A0E-874F-9EB0-F4245453AE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C60ECFC-0590-4647-BB82-75B6995736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D94499-D962-5F45-A5C8-0347838830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9A8B15-B9D3-6248-89DB-9E20DAFCC5E2}"/>
              </a:ext>
            </a:extLst>
          </p:cNvPr>
          <p:cNvSpPr>
            <a:spLocks noGrp="1"/>
          </p:cNvSpPr>
          <p:nvPr>
            <p:ph type="dt" sz="half" idx="10"/>
          </p:nvPr>
        </p:nvSpPr>
        <p:spPr/>
        <p:txBody>
          <a:bodyPr/>
          <a:lstStyle/>
          <a:p>
            <a:fld id="{6EBDBEF2-8292-B34A-B76A-246221F65729}" type="datetimeFigureOut">
              <a:rPr lang="en-US" smtClean="0"/>
              <a:t>11/21/25</a:t>
            </a:fld>
            <a:endParaRPr lang="en-US"/>
          </a:p>
        </p:txBody>
      </p:sp>
      <p:sp>
        <p:nvSpPr>
          <p:cNvPr id="6" name="Footer Placeholder 5">
            <a:extLst>
              <a:ext uri="{FF2B5EF4-FFF2-40B4-BE49-F238E27FC236}">
                <a16:creationId xmlns:a16="http://schemas.microsoft.com/office/drawing/2014/main" id="{3BBE09C9-95BD-A442-B494-9B1A123A83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C2BC2D-BC5D-3242-98B9-B61C816E8510}"/>
              </a:ext>
            </a:extLst>
          </p:cNvPr>
          <p:cNvSpPr>
            <a:spLocks noGrp="1"/>
          </p:cNvSpPr>
          <p:nvPr>
            <p:ph type="sldNum" sz="quarter" idx="12"/>
          </p:nvPr>
        </p:nvSpPr>
        <p:spPr/>
        <p:txBody>
          <a:bodyPr/>
          <a:lstStyle/>
          <a:p>
            <a:fld id="{C02D37F5-0316-5441-BA57-51D8C149D3F4}" type="slidenum">
              <a:rPr lang="en-US" smtClean="0"/>
              <a:t>‹#›</a:t>
            </a:fld>
            <a:endParaRPr lang="en-US"/>
          </a:p>
        </p:txBody>
      </p:sp>
    </p:spTree>
    <p:extLst>
      <p:ext uri="{BB962C8B-B14F-4D97-AF65-F5344CB8AC3E}">
        <p14:creationId xmlns:p14="http://schemas.microsoft.com/office/powerpoint/2010/main" val="3908540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36EFE-07FC-8146-9F2B-8E9C1C565C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AA91B6C-1AF6-5F4B-9568-6614CE3C22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AC3522-E919-1B4B-907C-7E13D9325D91}"/>
              </a:ext>
            </a:extLst>
          </p:cNvPr>
          <p:cNvSpPr>
            <a:spLocks noGrp="1"/>
          </p:cNvSpPr>
          <p:nvPr>
            <p:ph type="dt" sz="half" idx="10"/>
          </p:nvPr>
        </p:nvSpPr>
        <p:spPr/>
        <p:txBody>
          <a:bodyPr/>
          <a:lstStyle/>
          <a:p>
            <a:fld id="{6EBDBEF2-8292-B34A-B76A-246221F65729}" type="datetimeFigureOut">
              <a:rPr lang="en-US" smtClean="0"/>
              <a:t>11/21/25</a:t>
            </a:fld>
            <a:endParaRPr lang="en-US"/>
          </a:p>
        </p:txBody>
      </p:sp>
      <p:sp>
        <p:nvSpPr>
          <p:cNvPr id="5" name="Footer Placeholder 4">
            <a:extLst>
              <a:ext uri="{FF2B5EF4-FFF2-40B4-BE49-F238E27FC236}">
                <a16:creationId xmlns:a16="http://schemas.microsoft.com/office/drawing/2014/main" id="{7DFA3FFC-F9DC-344A-85F3-3FA6AB627B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371B8A-335C-014B-9471-6E4D551968F0}"/>
              </a:ext>
            </a:extLst>
          </p:cNvPr>
          <p:cNvSpPr>
            <a:spLocks noGrp="1"/>
          </p:cNvSpPr>
          <p:nvPr>
            <p:ph type="sldNum" sz="quarter" idx="12"/>
          </p:nvPr>
        </p:nvSpPr>
        <p:spPr/>
        <p:txBody>
          <a:bodyPr/>
          <a:lstStyle/>
          <a:p>
            <a:fld id="{C02D37F5-0316-5441-BA57-51D8C149D3F4}" type="slidenum">
              <a:rPr lang="en-US" smtClean="0"/>
              <a:t>‹#›</a:t>
            </a:fld>
            <a:endParaRPr lang="en-US"/>
          </a:p>
        </p:txBody>
      </p:sp>
    </p:spTree>
    <p:extLst>
      <p:ext uri="{BB962C8B-B14F-4D97-AF65-F5344CB8AC3E}">
        <p14:creationId xmlns:p14="http://schemas.microsoft.com/office/powerpoint/2010/main" val="1346213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5D1FE2-FB5E-284E-87B0-4602B35D55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33FF98-64A4-0E4E-B747-A6E48951CD6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79ACCB-2C77-1E46-BF71-5750E0540585}"/>
              </a:ext>
            </a:extLst>
          </p:cNvPr>
          <p:cNvSpPr>
            <a:spLocks noGrp="1"/>
          </p:cNvSpPr>
          <p:nvPr>
            <p:ph type="dt" sz="half" idx="10"/>
          </p:nvPr>
        </p:nvSpPr>
        <p:spPr/>
        <p:txBody>
          <a:bodyPr/>
          <a:lstStyle/>
          <a:p>
            <a:fld id="{6EBDBEF2-8292-B34A-B76A-246221F65729}" type="datetimeFigureOut">
              <a:rPr lang="en-US" smtClean="0"/>
              <a:t>11/21/25</a:t>
            </a:fld>
            <a:endParaRPr lang="en-US"/>
          </a:p>
        </p:txBody>
      </p:sp>
      <p:sp>
        <p:nvSpPr>
          <p:cNvPr id="5" name="Footer Placeholder 4">
            <a:extLst>
              <a:ext uri="{FF2B5EF4-FFF2-40B4-BE49-F238E27FC236}">
                <a16:creationId xmlns:a16="http://schemas.microsoft.com/office/drawing/2014/main" id="{08D04750-04DB-244E-B487-56ECEE6339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BF0F6C-249F-CB42-9FA4-51E5DC5CAEF1}"/>
              </a:ext>
            </a:extLst>
          </p:cNvPr>
          <p:cNvSpPr>
            <a:spLocks noGrp="1"/>
          </p:cNvSpPr>
          <p:nvPr>
            <p:ph type="sldNum" sz="quarter" idx="12"/>
          </p:nvPr>
        </p:nvSpPr>
        <p:spPr/>
        <p:txBody>
          <a:bodyPr/>
          <a:lstStyle/>
          <a:p>
            <a:fld id="{C02D37F5-0316-5441-BA57-51D8C149D3F4}" type="slidenum">
              <a:rPr lang="en-US" smtClean="0"/>
              <a:t>‹#›</a:t>
            </a:fld>
            <a:endParaRPr lang="en-US"/>
          </a:p>
        </p:txBody>
      </p:sp>
    </p:spTree>
    <p:extLst>
      <p:ext uri="{BB962C8B-B14F-4D97-AF65-F5344CB8AC3E}">
        <p14:creationId xmlns:p14="http://schemas.microsoft.com/office/powerpoint/2010/main" val="343823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336308-9CD9-0A4F-963E-CBB4177035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C94FB1-D219-3F41-9C16-654B736D9E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F1E781-8325-654D-8DD8-E15F756DDF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BDBEF2-8292-B34A-B76A-246221F65729}" type="datetimeFigureOut">
              <a:rPr lang="en-US" smtClean="0"/>
              <a:t>11/21/25</a:t>
            </a:fld>
            <a:endParaRPr lang="en-US"/>
          </a:p>
        </p:txBody>
      </p:sp>
      <p:sp>
        <p:nvSpPr>
          <p:cNvPr id="5" name="Footer Placeholder 4">
            <a:extLst>
              <a:ext uri="{FF2B5EF4-FFF2-40B4-BE49-F238E27FC236}">
                <a16:creationId xmlns:a16="http://schemas.microsoft.com/office/drawing/2014/main" id="{59403CD2-25FE-4E4F-8DCC-CF8F07C63E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869F1E7-84C5-AC45-8927-6D83B4D93F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2D37F5-0316-5441-BA57-51D8C149D3F4}" type="slidenum">
              <a:rPr lang="en-US" smtClean="0"/>
              <a:t>‹#›</a:t>
            </a:fld>
            <a:endParaRPr lang="en-US"/>
          </a:p>
        </p:txBody>
      </p:sp>
    </p:spTree>
    <p:extLst>
      <p:ext uri="{BB962C8B-B14F-4D97-AF65-F5344CB8AC3E}">
        <p14:creationId xmlns:p14="http://schemas.microsoft.com/office/powerpoint/2010/main" val="3986449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microsoft.com/office/2007/relationships/hdphoto" Target="../media/hdphoto1.wdp"/><Relationship Id="rId4" Type="http://schemas.openxmlformats.org/officeDocument/2006/relationships/image" Target="../media/image3.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jpeg"/><Relationship Id="rId12" Type="http://schemas.microsoft.com/office/2007/relationships/hdphoto" Target="../media/hdphoto3.wdp"/><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5.png"/><Relationship Id="rId5" Type="http://schemas.openxmlformats.org/officeDocument/2006/relationships/image" Target="../media/image4.png"/><Relationship Id="rId10" Type="http://schemas.microsoft.com/office/2007/relationships/hdphoto" Target="../media/hdphoto2.wdp"/><Relationship Id="rId4" Type="http://schemas.openxmlformats.org/officeDocument/2006/relationships/image" Target="../media/image3.png"/><Relationship Id="rId9" Type="http://schemas.openxmlformats.org/officeDocument/2006/relationships/image" Target="../media/image14.png"/></Relationships>
</file>

<file path=ppt/slides/_rels/slide1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jpeg"/><Relationship Id="rId12" Type="http://schemas.microsoft.com/office/2007/relationships/hdphoto" Target="../media/hdphoto5.wdp"/><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7.png"/><Relationship Id="rId5" Type="http://schemas.openxmlformats.org/officeDocument/2006/relationships/image" Target="../media/image4.png"/><Relationship Id="rId10" Type="http://schemas.microsoft.com/office/2007/relationships/hdphoto" Target="../media/hdphoto4.wdp"/><Relationship Id="rId4" Type="http://schemas.openxmlformats.org/officeDocument/2006/relationships/image" Target="../media/image3.png"/><Relationship Id="rId9" Type="http://schemas.openxmlformats.org/officeDocument/2006/relationships/image" Target="../media/image16.png"/></Relationships>
</file>

<file path=ppt/slides/_rels/slide1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10" Type="http://schemas.microsoft.com/office/2007/relationships/hdphoto" Target="../media/hdphoto6.wdp"/><Relationship Id="rId4" Type="http://schemas.openxmlformats.org/officeDocument/2006/relationships/image" Target="../media/image3.png"/><Relationship Id="rId9" Type="http://schemas.openxmlformats.org/officeDocument/2006/relationships/image" Target="../media/image18.png"/></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5.jp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3" name="Straight Connector 32" hidden="1">
            <a:extLst>
              <a:ext uri="{FF2B5EF4-FFF2-40B4-BE49-F238E27FC236}">
                <a16:creationId xmlns:a16="http://schemas.microsoft.com/office/drawing/2014/main" id="{BCDAEC91-5BCE-4B55-9CC0-43EF94CB73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80331" y="5123793"/>
            <a:ext cx="935420" cy="0"/>
          </a:xfrm>
          <a:prstGeom prst="line">
            <a:avLst/>
          </a:prstGeom>
          <a:ln w="25400" cap="sq">
            <a:solidFill>
              <a:schemeClr val="tx1">
                <a:lumMod val="85000"/>
                <a:lumOff val="15000"/>
              </a:schemeClr>
            </a:solidFill>
            <a:bevel/>
          </a:ln>
        </p:spPr>
        <p:style>
          <a:lnRef idx="1">
            <a:schemeClr val="accent1"/>
          </a:lnRef>
          <a:fillRef idx="0">
            <a:schemeClr val="accent1"/>
          </a:fillRef>
          <a:effectRef idx="0">
            <a:schemeClr val="accent1"/>
          </a:effectRef>
          <a:fontRef idx="minor">
            <a:schemeClr val="tx1"/>
          </a:fontRef>
        </p:style>
      </p:cxnSp>
      <p:pic>
        <p:nvPicPr>
          <p:cNvPr id="7" name="Picture 6" descr="A picture containing person, building material, brick&#10;&#10;Description automatically generated">
            <a:extLst>
              <a:ext uri="{FF2B5EF4-FFF2-40B4-BE49-F238E27FC236}">
                <a16:creationId xmlns:a16="http://schemas.microsoft.com/office/drawing/2014/main" id="{CD316323-8A24-A746-87E8-1B1ADBB8A74D}"/>
              </a:ext>
            </a:extLst>
          </p:cNvPr>
          <p:cNvPicPr>
            <a:picLocks noChangeAspect="1"/>
          </p:cNvPicPr>
          <p:nvPr/>
        </p:nvPicPr>
        <p:blipFill rotWithShape="1">
          <a:blip r:embed="rId3"/>
          <a:srcRect r="3112" b="1"/>
          <a:stretch/>
        </p:blipFill>
        <p:spPr>
          <a:xfrm>
            <a:off x="0" y="0"/>
            <a:ext cx="12191980" cy="6857999"/>
          </a:xfrm>
          <a:prstGeom prst="rect">
            <a:avLst/>
          </a:prstGeom>
        </p:spPr>
      </p:pic>
      <p:sp>
        <p:nvSpPr>
          <p:cNvPr id="31" name="Freeform 5">
            <a:extLst>
              <a:ext uri="{FF2B5EF4-FFF2-40B4-BE49-F238E27FC236}">
                <a16:creationId xmlns:a16="http://schemas.microsoft.com/office/drawing/2014/main" id="{87CC2527-562A-4F69-B487-4371E5B243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7488621" y="2277613"/>
            <a:ext cx="4703379" cy="4580387"/>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solidFill>
            <a:schemeClr val="bg1">
              <a:alpha val="70000"/>
            </a:schemeClr>
          </a:solidFill>
          <a:ln w="50800" cap="sq" cmpd="dbl">
            <a:noFill/>
            <a:miter lim="800000"/>
          </a:ln>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2" name="Title 1">
            <a:extLst>
              <a:ext uri="{FF2B5EF4-FFF2-40B4-BE49-F238E27FC236}">
                <a16:creationId xmlns:a16="http://schemas.microsoft.com/office/drawing/2014/main" id="{861BD093-8D12-7B49-99B8-94EBE32F6868}"/>
              </a:ext>
            </a:extLst>
          </p:cNvPr>
          <p:cNvSpPr>
            <a:spLocks noGrp="1"/>
          </p:cNvSpPr>
          <p:nvPr>
            <p:ph type="ctrTitle"/>
          </p:nvPr>
        </p:nvSpPr>
        <p:spPr>
          <a:xfrm>
            <a:off x="7656608" y="2056273"/>
            <a:ext cx="4582865" cy="3626069"/>
          </a:xfrm>
        </p:spPr>
        <p:txBody>
          <a:bodyPr>
            <a:noAutofit/>
          </a:bodyPr>
          <a:lstStyle/>
          <a:p>
            <a:r>
              <a:rPr lang="en-US" sz="5400" dirty="0">
                <a:latin typeface="Trebuchet MS" panose="020B0703020202090204" pitchFamily="34" charset="0"/>
              </a:rPr>
              <a:t>Building Online Experiments</a:t>
            </a:r>
          </a:p>
        </p:txBody>
      </p:sp>
      <p:sp>
        <p:nvSpPr>
          <p:cNvPr id="3" name="TextBox 2">
            <a:extLst>
              <a:ext uri="{FF2B5EF4-FFF2-40B4-BE49-F238E27FC236}">
                <a16:creationId xmlns:a16="http://schemas.microsoft.com/office/drawing/2014/main" id="{1D31B271-915D-9E48-9CB2-39CE01D83B1A}"/>
              </a:ext>
            </a:extLst>
          </p:cNvPr>
          <p:cNvSpPr txBox="1"/>
          <p:nvPr/>
        </p:nvSpPr>
        <p:spPr>
          <a:xfrm>
            <a:off x="8461094" y="5682342"/>
            <a:ext cx="3067291" cy="646331"/>
          </a:xfrm>
          <a:prstGeom prst="rect">
            <a:avLst/>
          </a:prstGeom>
          <a:noFill/>
        </p:spPr>
        <p:txBody>
          <a:bodyPr wrap="square" rtlCol="0">
            <a:spAutoFit/>
          </a:bodyPr>
          <a:lstStyle/>
          <a:p>
            <a:pPr algn="ctr"/>
            <a:r>
              <a:rPr lang="en-US" dirty="0">
                <a:solidFill>
                  <a:schemeClr val="bg2">
                    <a:lumMod val="50000"/>
                  </a:schemeClr>
                </a:solidFill>
              </a:rPr>
              <a:t>Tasfia Ahsan</a:t>
            </a:r>
          </a:p>
          <a:p>
            <a:pPr algn="ctr"/>
            <a:r>
              <a:rPr lang="en-US" dirty="0">
                <a:solidFill>
                  <a:schemeClr val="bg2">
                    <a:lumMod val="50000"/>
                  </a:schemeClr>
                </a:solidFill>
              </a:rPr>
              <a:t>November 21, 2025</a:t>
            </a:r>
          </a:p>
        </p:txBody>
      </p:sp>
    </p:spTree>
    <p:extLst>
      <p:ext uri="{BB962C8B-B14F-4D97-AF65-F5344CB8AC3E}">
        <p14:creationId xmlns:p14="http://schemas.microsoft.com/office/powerpoint/2010/main" val="1426093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Toy Blocks Pictures | Download Free Images on Unsplash">
            <a:extLst>
              <a:ext uri="{FF2B5EF4-FFF2-40B4-BE49-F238E27FC236}">
                <a16:creationId xmlns:a16="http://schemas.microsoft.com/office/drawing/2014/main" id="{AD675E02-D0C8-A245-E2B7-B0D609E4A9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56" t="10157" r="6403" b="15939"/>
          <a:stretch/>
        </p:blipFill>
        <p:spPr bwMode="auto">
          <a:xfrm>
            <a:off x="0" y="0"/>
            <a:ext cx="12190476" cy="6857999"/>
          </a:xfrm>
          <a:prstGeom prst="rect">
            <a:avLst/>
          </a:prstGeom>
          <a:noFill/>
          <a:extLst>
            <a:ext uri="{909E8E84-426E-40DD-AFC4-6F175D3DCCD1}">
              <a14:hiddenFill xmlns:a14="http://schemas.microsoft.com/office/drawing/2010/main">
                <a:solidFill>
                  <a:srgbClr val="FFFFFF"/>
                </a:solidFill>
              </a14:hiddenFill>
            </a:ext>
          </a:extLst>
        </p:spPr>
      </p:pic>
      <p:sp>
        <p:nvSpPr>
          <p:cNvPr id="1030" name="Rectangle 19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a16="http://schemas.microsoft.com/office/drawing/2014/main" id="{94DDE50B-A608-1F4B-AB74-9F9C17B26548}"/>
              </a:ext>
            </a:extLst>
          </p:cNvPr>
          <p:cNvSpPr txBox="1"/>
          <p:nvPr/>
        </p:nvSpPr>
        <p:spPr>
          <a:xfrm>
            <a:off x="1588359" y="2719251"/>
            <a:ext cx="1879600" cy="523220"/>
          </a:xfrm>
          <a:prstGeom prst="rect">
            <a:avLst/>
          </a:prstGeom>
          <a:noFill/>
        </p:spPr>
        <p:txBody>
          <a:bodyPr wrap="square" rtlCol="0">
            <a:spAutoFit/>
          </a:bodyPr>
          <a:lstStyle/>
          <a:p>
            <a:pPr algn="ctr"/>
            <a:r>
              <a:rPr lang="en-US" sz="2800" dirty="0"/>
              <a:t>Building </a:t>
            </a:r>
          </a:p>
        </p:txBody>
      </p:sp>
      <p:sp>
        <p:nvSpPr>
          <p:cNvPr id="10" name="TextBox 9">
            <a:extLst>
              <a:ext uri="{FF2B5EF4-FFF2-40B4-BE49-F238E27FC236}">
                <a16:creationId xmlns:a16="http://schemas.microsoft.com/office/drawing/2014/main" id="{24EC59C9-D65E-444C-AFB7-CD5D103182F6}"/>
              </a:ext>
            </a:extLst>
          </p:cNvPr>
          <p:cNvSpPr txBox="1"/>
          <p:nvPr/>
        </p:nvSpPr>
        <p:spPr>
          <a:xfrm>
            <a:off x="4077148" y="2719251"/>
            <a:ext cx="1879600" cy="523220"/>
          </a:xfrm>
          <a:prstGeom prst="rect">
            <a:avLst/>
          </a:prstGeom>
          <a:noFill/>
        </p:spPr>
        <p:txBody>
          <a:bodyPr wrap="square" rtlCol="0">
            <a:spAutoFit/>
          </a:bodyPr>
          <a:lstStyle/>
          <a:p>
            <a:pPr algn="ctr"/>
            <a:r>
              <a:rPr lang="en-US" sz="2800" dirty="0"/>
              <a:t>Hosting</a:t>
            </a:r>
          </a:p>
        </p:txBody>
      </p:sp>
      <p:sp>
        <p:nvSpPr>
          <p:cNvPr id="11" name="TextBox 10">
            <a:extLst>
              <a:ext uri="{FF2B5EF4-FFF2-40B4-BE49-F238E27FC236}">
                <a16:creationId xmlns:a16="http://schemas.microsoft.com/office/drawing/2014/main" id="{F7F8ED30-45AE-5347-8BFA-4F1DF638A32A}"/>
              </a:ext>
            </a:extLst>
          </p:cNvPr>
          <p:cNvSpPr txBox="1"/>
          <p:nvPr/>
        </p:nvSpPr>
        <p:spPr>
          <a:xfrm>
            <a:off x="6474873" y="2671178"/>
            <a:ext cx="1968459" cy="523220"/>
          </a:xfrm>
          <a:prstGeom prst="rect">
            <a:avLst/>
          </a:prstGeom>
          <a:noFill/>
        </p:spPr>
        <p:txBody>
          <a:bodyPr wrap="square" rtlCol="0">
            <a:spAutoFit/>
          </a:bodyPr>
          <a:lstStyle/>
          <a:p>
            <a:pPr algn="ctr"/>
            <a:r>
              <a:rPr lang="en-US" sz="2800" dirty="0"/>
              <a:t>Consent</a:t>
            </a:r>
          </a:p>
        </p:txBody>
      </p:sp>
      <p:sp>
        <p:nvSpPr>
          <p:cNvPr id="12" name="TextBox 11">
            <a:extLst>
              <a:ext uri="{FF2B5EF4-FFF2-40B4-BE49-F238E27FC236}">
                <a16:creationId xmlns:a16="http://schemas.microsoft.com/office/drawing/2014/main" id="{D7BBF71F-D5D4-2744-9DFA-D4A6DB0DC9EE}"/>
              </a:ext>
            </a:extLst>
          </p:cNvPr>
          <p:cNvSpPr txBox="1"/>
          <p:nvPr/>
        </p:nvSpPr>
        <p:spPr>
          <a:xfrm>
            <a:off x="8838471" y="2719251"/>
            <a:ext cx="2113075" cy="523220"/>
          </a:xfrm>
          <a:prstGeom prst="rect">
            <a:avLst/>
          </a:prstGeom>
          <a:noFill/>
        </p:spPr>
        <p:txBody>
          <a:bodyPr wrap="square" rtlCol="0">
            <a:spAutoFit/>
          </a:bodyPr>
          <a:lstStyle/>
          <a:p>
            <a:pPr algn="ctr"/>
            <a:r>
              <a:rPr lang="en-US" sz="2800" dirty="0"/>
              <a:t>Recruitment</a:t>
            </a:r>
          </a:p>
        </p:txBody>
      </p:sp>
      <p:sp>
        <p:nvSpPr>
          <p:cNvPr id="2" name="TextBox 1">
            <a:extLst>
              <a:ext uri="{FF2B5EF4-FFF2-40B4-BE49-F238E27FC236}">
                <a16:creationId xmlns:a16="http://schemas.microsoft.com/office/drawing/2014/main" id="{19E576A6-EEE6-3950-7180-AF02CB73D05E}"/>
              </a:ext>
            </a:extLst>
          </p:cNvPr>
          <p:cNvSpPr txBox="1"/>
          <p:nvPr/>
        </p:nvSpPr>
        <p:spPr>
          <a:xfrm>
            <a:off x="2187615" y="127321"/>
            <a:ext cx="7998107" cy="707886"/>
          </a:xfrm>
          <a:prstGeom prst="rect">
            <a:avLst/>
          </a:prstGeom>
          <a:noFill/>
        </p:spPr>
        <p:txBody>
          <a:bodyPr wrap="square" rtlCol="0">
            <a:spAutoFit/>
          </a:bodyPr>
          <a:lstStyle/>
          <a:p>
            <a:pPr algn="ctr"/>
            <a:r>
              <a:rPr lang="en-CA" sz="4000" b="1" dirty="0"/>
              <a:t>In-Person Experiment</a:t>
            </a:r>
          </a:p>
        </p:txBody>
      </p:sp>
      <p:sp>
        <p:nvSpPr>
          <p:cNvPr id="7" name="TextBox 6">
            <a:extLst>
              <a:ext uri="{FF2B5EF4-FFF2-40B4-BE49-F238E27FC236}">
                <a16:creationId xmlns:a16="http://schemas.microsoft.com/office/drawing/2014/main" id="{AE0B985E-9B57-B1AC-0959-E91DB6E00523}"/>
              </a:ext>
            </a:extLst>
          </p:cNvPr>
          <p:cNvSpPr txBox="1"/>
          <p:nvPr/>
        </p:nvSpPr>
        <p:spPr>
          <a:xfrm>
            <a:off x="1588359" y="3796496"/>
            <a:ext cx="1791449" cy="646331"/>
          </a:xfrm>
          <a:prstGeom prst="rect">
            <a:avLst/>
          </a:prstGeom>
          <a:noFill/>
        </p:spPr>
        <p:txBody>
          <a:bodyPr wrap="square" rtlCol="0">
            <a:spAutoFit/>
          </a:bodyPr>
          <a:lstStyle/>
          <a:p>
            <a:pPr marL="285750" indent="-285750">
              <a:buFont typeface="Arial" panose="020B0604020202020204" pitchFamily="34" charset="0"/>
              <a:buChar char="•"/>
            </a:pPr>
            <a:r>
              <a:rPr lang="en-CA" dirty="0"/>
              <a:t>MATLAB </a:t>
            </a:r>
          </a:p>
          <a:p>
            <a:pPr marL="285750" indent="-285750">
              <a:buFont typeface="Arial" panose="020B0604020202020204" pitchFamily="34" charset="0"/>
              <a:buChar char="•"/>
            </a:pPr>
            <a:r>
              <a:rPr lang="en-CA" dirty="0" err="1"/>
              <a:t>PsychoPy</a:t>
            </a:r>
            <a:r>
              <a:rPr lang="en-CA" dirty="0"/>
              <a:t> </a:t>
            </a:r>
          </a:p>
        </p:txBody>
      </p:sp>
      <p:sp>
        <p:nvSpPr>
          <p:cNvPr id="8" name="TextBox 7">
            <a:extLst>
              <a:ext uri="{FF2B5EF4-FFF2-40B4-BE49-F238E27FC236}">
                <a16:creationId xmlns:a16="http://schemas.microsoft.com/office/drawing/2014/main" id="{95C7BCAC-D64B-0ED7-C94E-E9D71436B51A}"/>
              </a:ext>
            </a:extLst>
          </p:cNvPr>
          <p:cNvSpPr txBox="1"/>
          <p:nvPr/>
        </p:nvSpPr>
        <p:spPr>
          <a:xfrm>
            <a:off x="4077148" y="3796496"/>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CA" dirty="0"/>
              <a:t>In a lab setting</a:t>
            </a:r>
          </a:p>
        </p:txBody>
      </p:sp>
      <p:sp>
        <p:nvSpPr>
          <p:cNvPr id="9" name="TextBox 8">
            <a:extLst>
              <a:ext uri="{FF2B5EF4-FFF2-40B4-BE49-F238E27FC236}">
                <a16:creationId xmlns:a16="http://schemas.microsoft.com/office/drawing/2014/main" id="{EB62FC22-5569-2E63-C6B8-AF6E2AFC164A}"/>
              </a:ext>
            </a:extLst>
          </p:cNvPr>
          <p:cNvSpPr txBox="1"/>
          <p:nvPr/>
        </p:nvSpPr>
        <p:spPr>
          <a:xfrm>
            <a:off x="6474873" y="3761375"/>
            <a:ext cx="1879600" cy="646331"/>
          </a:xfrm>
          <a:prstGeom prst="rect">
            <a:avLst/>
          </a:prstGeom>
          <a:noFill/>
        </p:spPr>
        <p:txBody>
          <a:bodyPr wrap="square" rtlCol="0">
            <a:spAutoFit/>
          </a:bodyPr>
          <a:lstStyle/>
          <a:p>
            <a:pPr marL="285750" indent="-285750">
              <a:buFont typeface="Arial" panose="020B0604020202020204" pitchFamily="34" charset="0"/>
              <a:buChar char="•"/>
            </a:pPr>
            <a:r>
              <a:rPr lang="en-CA" dirty="0"/>
              <a:t>Physical consent form</a:t>
            </a:r>
          </a:p>
        </p:txBody>
      </p:sp>
      <p:sp>
        <p:nvSpPr>
          <p:cNvPr id="13" name="TextBox 12">
            <a:extLst>
              <a:ext uri="{FF2B5EF4-FFF2-40B4-BE49-F238E27FC236}">
                <a16:creationId xmlns:a16="http://schemas.microsoft.com/office/drawing/2014/main" id="{2CBADFD4-520A-92D4-3EC0-30A13F4D9BF8}"/>
              </a:ext>
            </a:extLst>
          </p:cNvPr>
          <p:cNvSpPr txBox="1"/>
          <p:nvPr/>
        </p:nvSpPr>
        <p:spPr>
          <a:xfrm>
            <a:off x="9118245" y="3796496"/>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CA" dirty="0"/>
              <a:t>URPP </a:t>
            </a:r>
          </a:p>
        </p:txBody>
      </p:sp>
    </p:spTree>
    <p:extLst>
      <p:ext uri="{BB962C8B-B14F-4D97-AF65-F5344CB8AC3E}">
        <p14:creationId xmlns:p14="http://schemas.microsoft.com/office/powerpoint/2010/main" val="225593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44E778B-6AFB-EC26-EC9C-E7E22E52EE0F}"/>
            </a:ext>
          </a:extLst>
        </p:cNvPr>
        <p:cNvGrpSpPr/>
        <p:nvPr/>
      </p:nvGrpSpPr>
      <p:grpSpPr>
        <a:xfrm>
          <a:off x="0" y="0"/>
          <a:ext cx="0" cy="0"/>
          <a:chOff x="0" y="0"/>
          <a:chExt cx="0" cy="0"/>
        </a:xfrm>
      </p:grpSpPr>
      <p:pic>
        <p:nvPicPr>
          <p:cNvPr id="1026" name="Picture 2" descr="Toy Blocks Pictures | Download Free Images on Unsplash">
            <a:extLst>
              <a:ext uri="{FF2B5EF4-FFF2-40B4-BE49-F238E27FC236}">
                <a16:creationId xmlns:a16="http://schemas.microsoft.com/office/drawing/2014/main" id="{1AB8CD38-6E40-6818-C5E6-8CA2D067CCC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456" t="10157" r="6403" b="15939"/>
          <a:stretch/>
        </p:blipFill>
        <p:spPr bwMode="auto">
          <a:xfrm>
            <a:off x="0" y="0"/>
            <a:ext cx="12190476" cy="6857999"/>
          </a:xfrm>
          <a:prstGeom prst="rect">
            <a:avLst/>
          </a:prstGeom>
          <a:noFill/>
          <a:extLst>
            <a:ext uri="{909E8E84-426E-40DD-AFC4-6F175D3DCCD1}">
              <a14:hiddenFill xmlns:a14="http://schemas.microsoft.com/office/drawing/2010/main">
                <a:solidFill>
                  <a:srgbClr val="FFFFFF"/>
                </a:solidFill>
              </a14:hiddenFill>
            </a:ext>
          </a:extLst>
        </p:spPr>
      </p:pic>
      <p:sp>
        <p:nvSpPr>
          <p:cNvPr id="1030" name="Rectangle 191">
            <a:extLst>
              <a:ext uri="{FF2B5EF4-FFF2-40B4-BE49-F238E27FC236}">
                <a16:creationId xmlns:a16="http://schemas.microsoft.com/office/drawing/2014/main" id="{175EC50E-101A-00DB-57CD-6773716001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a16="http://schemas.microsoft.com/office/drawing/2014/main" id="{FCADFACF-ECD6-0ECF-AD8E-A22502C999DA}"/>
              </a:ext>
            </a:extLst>
          </p:cNvPr>
          <p:cNvSpPr txBox="1"/>
          <p:nvPr/>
        </p:nvSpPr>
        <p:spPr>
          <a:xfrm>
            <a:off x="1588359" y="2719251"/>
            <a:ext cx="1879600" cy="523220"/>
          </a:xfrm>
          <a:prstGeom prst="rect">
            <a:avLst/>
          </a:prstGeom>
          <a:noFill/>
        </p:spPr>
        <p:txBody>
          <a:bodyPr wrap="square" rtlCol="0">
            <a:spAutoFit/>
          </a:bodyPr>
          <a:lstStyle/>
          <a:p>
            <a:pPr algn="ctr"/>
            <a:r>
              <a:rPr lang="en-US" sz="2800" dirty="0"/>
              <a:t>Building </a:t>
            </a:r>
          </a:p>
        </p:txBody>
      </p:sp>
      <p:sp>
        <p:nvSpPr>
          <p:cNvPr id="10" name="TextBox 9">
            <a:extLst>
              <a:ext uri="{FF2B5EF4-FFF2-40B4-BE49-F238E27FC236}">
                <a16:creationId xmlns:a16="http://schemas.microsoft.com/office/drawing/2014/main" id="{0E3245DB-0384-D976-01D6-09179CEA9C1A}"/>
              </a:ext>
            </a:extLst>
          </p:cNvPr>
          <p:cNvSpPr txBox="1"/>
          <p:nvPr/>
        </p:nvSpPr>
        <p:spPr>
          <a:xfrm>
            <a:off x="4077148" y="2719251"/>
            <a:ext cx="1879600" cy="523220"/>
          </a:xfrm>
          <a:prstGeom prst="rect">
            <a:avLst/>
          </a:prstGeom>
          <a:noFill/>
        </p:spPr>
        <p:txBody>
          <a:bodyPr wrap="square" rtlCol="0">
            <a:spAutoFit/>
          </a:bodyPr>
          <a:lstStyle/>
          <a:p>
            <a:pPr algn="ctr"/>
            <a:r>
              <a:rPr lang="en-US" sz="2800" dirty="0"/>
              <a:t>Hosting</a:t>
            </a:r>
          </a:p>
        </p:txBody>
      </p:sp>
      <p:sp>
        <p:nvSpPr>
          <p:cNvPr id="11" name="TextBox 10">
            <a:extLst>
              <a:ext uri="{FF2B5EF4-FFF2-40B4-BE49-F238E27FC236}">
                <a16:creationId xmlns:a16="http://schemas.microsoft.com/office/drawing/2014/main" id="{A2050237-EB3F-DF7B-34C5-E8EF538344C9}"/>
              </a:ext>
            </a:extLst>
          </p:cNvPr>
          <p:cNvSpPr txBox="1"/>
          <p:nvPr/>
        </p:nvSpPr>
        <p:spPr>
          <a:xfrm>
            <a:off x="6474873" y="2671178"/>
            <a:ext cx="1968459" cy="523220"/>
          </a:xfrm>
          <a:prstGeom prst="rect">
            <a:avLst/>
          </a:prstGeom>
          <a:noFill/>
        </p:spPr>
        <p:txBody>
          <a:bodyPr wrap="square" rtlCol="0">
            <a:spAutoFit/>
          </a:bodyPr>
          <a:lstStyle/>
          <a:p>
            <a:pPr algn="ctr"/>
            <a:r>
              <a:rPr lang="en-US" sz="2800" dirty="0"/>
              <a:t>Consent</a:t>
            </a:r>
          </a:p>
        </p:txBody>
      </p:sp>
      <p:sp>
        <p:nvSpPr>
          <p:cNvPr id="12" name="TextBox 11">
            <a:extLst>
              <a:ext uri="{FF2B5EF4-FFF2-40B4-BE49-F238E27FC236}">
                <a16:creationId xmlns:a16="http://schemas.microsoft.com/office/drawing/2014/main" id="{8F4BC02D-15B8-04EF-B7D8-D82E5591703F}"/>
              </a:ext>
            </a:extLst>
          </p:cNvPr>
          <p:cNvSpPr txBox="1"/>
          <p:nvPr/>
        </p:nvSpPr>
        <p:spPr>
          <a:xfrm>
            <a:off x="8838471" y="2719251"/>
            <a:ext cx="2113075" cy="523220"/>
          </a:xfrm>
          <a:prstGeom prst="rect">
            <a:avLst/>
          </a:prstGeom>
          <a:noFill/>
        </p:spPr>
        <p:txBody>
          <a:bodyPr wrap="square" rtlCol="0">
            <a:spAutoFit/>
          </a:bodyPr>
          <a:lstStyle/>
          <a:p>
            <a:pPr algn="ctr"/>
            <a:r>
              <a:rPr lang="en-US" sz="2800" dirty="0"/>
              <a:t>Recruitment</a:t>
            </a:r>
          </a:p>
        </p:txBody>
      </p:sp>
      <p:sp>
        <p:nvSpPr>
          <p:cNvPr id="4" name="TextBox 3">
            <a:extLst>
              <a:ext uri="{FF2B5EF4-FFF2-40B4-BE49-F238E27FC236}">
                <a16:creationId xmlns:a16="http://schemas.microsoft.com/office/drawing/2014/main" id="{683AC9EA-E9FD-D2D8-58D6-17A33C57D2DF}"/>
              </a:ext>
            </a:extLst>
          </p:cNvPr>
          <p:cNvSpPr txBox="1"/>
          <p:nvPr/>
        </p:nvSpPr>
        <p:spPr>
          <a:xfrm>
            <a:off x="2187615" y="127321"/>
            <a:ext cx="7998107" cy="707886"/>
          </a:xfrm>
          <a:prstGeom prst="rect">
            <a:avLst/>
          </a:prstGeom>
          <a:noFill/>
        </p:spPr>
        <p:txBody>
          <a:bodyPr wrap="square" rtlCol="0">
            <a:spAutoFit/>
          </a:bodyPr>
          <a:lstStyle/>
          <a:p>
            <a:pPr algn="ctr"/>
            <a:r>
              <a:rPr lang="en-CA" sz="4000" b="1" dirty="0"/>
              <a:t>Online Experiment</a:t>
            </a:r>
          </a:p>
        </p:txBody>
      </p:sp>
      <p:sp>
        <p:nvSpPr>
          <p:cNvPr id="5" name="TextBox 4">
            <a:extLst>
              <a:ext uri="{FF2B5EF4-FFF2-40B4-BE49-F238E27FC236}">
                <a16:creationId xmlns:a16="http://schemas.microsoft.com/office/drawing/2014/main" id="{685DD867-3081-D386-419E-89F799A5BFA5}"/>
              </a:ext>
            </a:extLst>
          </p:cNvPr>
          <p:cNvSpPr txBox="1"/>
          <p:nvPr/>
        </p:nvSpPr>
        <p:spPr>
          <a:xfrm>
            <a:off x="1588359" y="3796496"/>
            <a:ext cx="1791449" cy="923330"/>
          </a:xfrm>
          <a:prstGeom prst="rect">
            <a:avLst/>
          </a:prstGeom>
          <a:noFill/>
        </p:spPr>
        <p:txBody>
          <a:bodyPr wrap="square" rtlCol="0">
            <a:spAutoFit/>
          </a:bodyPr>
          <a:lstStyle/>
          <a:p>
            <a:pPr marL="285750" indent="-285750">
              <a:buFont typeface="Arial" panose="020B0604020202020204" pitchFamily="34" charset="0"/>
              <a:buChar char="•"/>
            </a:pPr>
            <a:r>
              <a:rPr lang="en-CA" dirty="0" err="1"/>
              <a:t>PsychoPy</a:t>
            </a:r>
            <a:endParaRPr lang="en-CA" dirty="0"/>
          </a:p>
          <a:p>
            <a:pPr marL="285750" indent="-285750">
              <a:buFont typeface="Arial" panose="020B0604020202020204" pitchFamily="34" charset="0"/>
              <a:buChar char="•"/>
            </a:pPr>
            <a:r>
              <a:rPr lang="en-CA" dirty="0" err="1"/>
              <a:t>jsPsych</a:t>
            </a:r>
            <a:endParaRPr lang="en-CA" dirty="0"/>
          </a:p>
          <a:p>
            <a:pPr marL="285750" indent="-285750">
              <a:buFont typeface="Arial" panose="020B0604020202020204" pitchFamily="34" charset="0"/>
              <a:buChar char="•"/>
            </a:pPr>
            <a:r>
              <a:rPr lang="en-CA" dirty="0"/>
              <a:t>Gorilla</a:t>
            </a:r>
          </a:p>
        </p:txBody>
      </p:sp>
      <p:sp>
        <p:nvSpPr>
          <p:cNvPr id="6" name="TextBox 5">
            <a:extLst>
              <a:ext uri="{FF2B5EF4-FFF2-40B4-BE49-F238E27FC236}">
                <a16:creationId xmlns:a16="http://schemas.microsoft.com/office/drawing/2014/main" id="{5B909CCC-AE56-7C75-488C-F39C8D753692}"/>
              </a:ext>
            </a:extLst>
          </p:cNvPr>
          <p:cNvSpPr txBox="1"/>
          <p:nvPr/>
        </p:nvSpPr>
        <p:spPr>
          <a:xfrm>
            <a:off x="4077148" y="3796496"/>
            <a:ext cx="1879600" cy="646331"/>
          </a:xfrm>
          <a:prstGeom prst="rect">
            <a:avLst/>
          </a:prstGeom>
          <a:noFill/>
        </p:spPr>
        <p:txBody>
          <a:bodyPr wrap="square" rtlCol="0">
            <a:spAutoFit/>
          </a:bodyPr>
          <a:lstStyle/>
          <a:p>
            <a:pPr marL="285750" indent="-285750">
              <a:buFont typeface="Arial" panose="020B0604020202020204" pitchFamily="34" charset="0"/>
              <a:buChar char="•"/>
            </a:pPr>
            <a:r>
              <a:rPr lang="en-CA" dirty="0"/>
              <a:t>Pavlovia</a:t>
            </a:r>
          </a:p>
          <a:p>
            <a:pPr marL="285750" indent="-285750">
              <a:buFont typeface="Arial" panose="020B0604020202020204" pitchFamily="34" charset="0"/>
              <a:buChar char="•"/>
            </a:pPr>
            <a:r>
              <a:rPr lang="en-CA" dirty="0" err="1"/>
              <a:t>Cognition.run</a:t>
            </a:r>
            <a:endParaRPr lang="en-CA" dirty="0"/>
          </a:p>
        </p:txBody>
      </p:sp>
      <p:sp>
        <p:nvSpPr>
          <p:cNvPr id="7" name="TextBox 6">
            <a:extLst>
              <a:ext uri="{FF2B5EF4-FFF2-40B4-BE49-F238E27FC236}">
                <a16:creationId xmlns:a16="http://schemas.microsoft.com/office/drawing/2014/main" id="{E9613EF9-A694-FA7E-E596-DD49AD636813}"/>
              </a:ext>
            </a:extLst>
          </p:cNvPr>
          <p:cNvSpPr txBox="1"/>
          <p:nvPr/>
        </p:nvSpPr>
        <p:spPr>
          <a:xfrm>
            <a:off x="6474873" y="3761375"/>
            <a:ext cx="1879600" cy="1200329"/>
          </a:xfrm>
          <a:prstGeom prst="rect">
            <a:avLst/>
          </a:prstGeom>
          <a:noFill/>
        </p:spPr>
        <p:txBody>
          <a:bodyPr wrap="square" rtlCol="0">
            <a:spAutoFit/>
          </a:bodyPr>
          <a:lstStyle/>
          <a:p>
            <a:pPr marL="285750" indent="-285750">
              <a:buFont typeface="Arial" panose="020B0604020202020204" pitchFamily="34" charset="0"/>
              <a:buChar char="•"/>
            </a:pPr>
            <a:r>
              <a:rPr lang="en-CA" dirty="0"/>
              <a:t>Pavlovia Surveys</a:t>
            </a:r>
          </a:p>
          <a:p>
            <a:pPr marL="285750" indent="-285750">
              <a:buFont typeface="Arial" panose="020B0604020202020204" pitchFamily="34" charset="0"/>
              <a:buChar char="•"/>
            </a:pPr>
            <a:r>
              <a:rPr lang="en-CA" dirty="0"/>
              <a:t>Qualtrics</a:t>
            </a:r>
          </a:p>
          <a:p>
            <a:pPr marL="285750" indent="-285750">
              <a:buFont typeface="Arial" panose="020B0604020202020204" pitchFamily="34" charset="0"/>
              <a:buChar char="•"/>
            </a:pPr>
            <a:r>
              <a:rPr lang="en-CA" dirty="0" err="1"/>
              <a:t>QuestionPro</a:t>
            </a:r>
            <a:endParaRPr lang="en-CA" dirty="0"/>
          </a:p>
        </p:txBody>
      </p:sp>
      <p:sp>
        <p:nvSpPr>
          <p:cNvPr id="8" name="TextBox 7">
            <a:extLst>
              <a:ext uri="{FF2B5EF4-FFF2-40B4-BE49-F238E27FC236}">
                <a16:creationId xmlns:a16="http://schemas.microsoft.com/office/drawing/2014/main" id="{22C09956-D612-F3BC-6E63-3791CF684080}"/>
              </a:ext>
            </a:extLst>
          </p:cNvPr>
          <p:cNvSpPr txBox="1"/>
          <p:nvPr/>
        </p:nvSpPr>
        <p:spPr>
          <a:xfrm>
            <a:off x="9118245" y="3796496"/>
            <a:ext cx="1879600" cy="923330"/>
          </a:xfrm>
          <a:prstGeom prst="rect">
            <a:avLst/>
          </a:prstGeom>
          <a:noFill/>
        </p:spPr>
        <p:txBody>
          <a:bodyPr wrap="square" rtlCol="0">
            <a:spAutoFit/>
          </a:bodyPr>
          <a:lstStyle/>
          <a:p>
            <a:pPr marL="285750" indent="-285750">
              <a:buFont typeface="Arial" panose="020B0604020202020204" pitchFamily="34" charset="0"/>
              <a:buChar char="•"/>
            </a:pPr>
            <a:r>
              <a:rPr lang="en-CA" dirty="0"/>
              <a:t>URPP </a:t>
            </a:r>
          </a:p>
          <a:p>
            <a:pPr marL="285750" indent="-285750">
              <a:buFont typeface="Arial" panose="020B0604020202020204" pitchFamily="34" charset="0"/>
              <a:buChar char="•"/>
            </a:pPr>
            <a:r>
              <a:rPr lang="en-CA" dirty="0"/>
              <a:t>Prolific</a:t>
            </a:r>
          </a:p>
          <a:p>
            <a:pPr marL="285750" indent="-285750">
              <a:buFont typeface="Arial" panose="020B0604020202020204" pitchFamily="34" charset="0"/>
              <a:buChar char="•"/>
            </a:pPr>
            <a:r>
              <a:rPr lang="en-CA" dirty="0" err="1"/>
              <a:t>MTurk</a:t>
            </a:r>
            <a:r>
              <a:rPr lang="en-CA" dirty="0"/>
              <a:t> </a:t>
            </a:r>
          </a:p>
        </p:txBody>
      </p:sp>
    </p:spTree>
    <p:extLst>
      <p:ext uri="{BB962C8B-B14F-4D97-AF65-F5344CB8AC3E}">
        <p14:creationId xmlns:p14="http://schemas.microsoft.com/office/powerpoint/2010/main" val="1942469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A9EA3B-D269-FBA3-7CA9-3AC66B243DD4}"/>
            </a:ext>
          </a:extLst>
        </p:cNvPr>
        <p:cNvGrpSpPr/>
        <p:nvPr/>
      </p:nvGrpSpPr>
      <p:grpSpPr>
        <a:xfrm>
          <a:off x="0" y="0"/>
          <a:ext cx="0" cy="0"/>
          <a:chOff x="0" y="0"/>
          <a:chExt cx="0" cy="0"/>
        </a:xfrm>
      </p:grpSpPr>
      <p:pic>
        <p:nvPicPr>
          <p:cNvPr id="1026" name="Picture 2" descr="Toy Blocks Pictures | Download Free Images on Unsplash">
            <a:extLst>
              <a:ext uri="{FF2B5EF4-FFF2-40B4-BE49-F238E27FC236}">
                <a16:creationId xmlns:a16="http://schemas.microsoft.com/office/drawing/2014/main" id="{2AE1C183-6897-E356-F8F9-9871448727E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56" t="10157" r="6403" b="15939"/>
          <a:stretch/>
        </p:blipFill>
        <p:spPr bwMode="auto">
          <a:xfrm>
            <a:off x="0" y="0"/>
            <a:ext cx="12190476" cy="6857999"/>
          </a:xfrm>
          <a:prstGeom prst="rect">
            <a:avLst/>
          </a:prstGeom>
          <a:noFill/>
          <a:extLst>
            <a:ext uri="{909E8E84-426E-40DD-AFC4-6F175D3DCCD1}">
              <a14:hiddenFill xmlns:a14="http://schemas.microsoft.com/office/drawing/2010/main">
                <a:solidFill>
                  <a:srgbClr val="FFFFFF"/>
                </a:solidFill>
              </a14:hiddenFill>
            </a:ext>
          </a:extLst>
        </p:spPr>
      </p:pic>
      <p:sp>
        <p:nvSpPr>
          <p:cNvPr id="1030" name="Rectangle 191">
            <a:extLst>
              <a:ext uri="{FF2B5EF4-FFF2-40B4-BE49-F238E27FC236}">
                <a16:creationId xmlns:a16="http://schemas.microsoft.com/office/drawing/2014/main" id="{DF0CB516-D842-5799-1AC6-BB882CF8E1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a16="http://schemas.microsoft.com/office/drawing/2014/main" id="{C94D9500-7495-7107-B4BE-F5590C6663A3}"/>
              </a:ext>
            </a:extLst>
          </p:cNvPr>
          <p:cNvSpPr txBox="1"/>
          <p:nvPr/>
        </p:nvSpPr>
        <p:spPr>
          <a:xfrm>
            <a:off x="1588359" y="2719251"/>
            <a:ext cx="1879600" cy="523220"/>
          </a:xfrm>
          <a:prstGeom prst="rect">
            <a:avLst/>
          </a:prstGeom>
          <a:noFill/>
        </p:spPr>
        <p:txBody>
          <a:bodyPr wrap="square" rtlCol="0">
            <a:spAutoFit/>
          </a:bodyPr>
          <a:lstStyle/>
          <a:p>
            <a:pPr algn="ctr"/>
            <a:r>
              <a:rPr lang="en-US" sz="2800" dirty="0"/>
              <a:t>Building </a:t>
            </a:r>
          </a:p>
        </p:txBody>
      </p:sp>
      <p:sp>
        <p:nvSpPr>
          <p:cNvPr id="10" name="TextBox 9">
            <a:extLst>
              <a:ext uri="{FF2B5EF4-FFF2-40B4-BE49-F238E27FC236}">
                <a16:creationId xmlns:a16="http://schemas.microsoft.com/office/drawing/2014/main" id="{4AD8CEE0-FC25-3791-F6FC-D919184ACC29}"/>
              </a:ext>
            </a:extLst>
          </p:cNvPr>
          <p:cNvSpPr txBox="1"/>
          <p:nvPr/>
        </p:nvSpPr>
        <p:spPr>
          <a:xfrm>
            <a:off x="4077148" y="2719251"/>
            <a:ext cx="1879600" cy="523220"/>
          </a:xfrm>
          <a:prstGeom prst="rect">
            <a:avLst/>
          </a:prstGeom>
          <a:noFill/>
        </p:spPr>
        <p:txBody>
          <a:bodyPr wrap="square" rtlCol="0">
            <a:spAutoFit/>
          </a:bodyPr>
          <a:lstStyle/>
          <a:p>
            <a:pPr algn="ctr"/>
            <a:r>
              <a:rPr lang="en-US" sz="2800" dirty="0"/>
              <a:t>Hosting</a:t>
            </a:r>
          </a:p>
        </p:txBody>
      </p:sp>
      <p:sp>
        <p:nvSpPr>
          <p:cNvPr id="11" name="TextBox 10">
            <a:extLst>
              <a:ext uri="{FF2B5EF4-FFF2-40B4-BE49-F238E27FC236}">
                <a16:creationId xmlns:a16="http://schemas.microsoft.com/office/drawing/2014/main" id="{96D24C97-10CA-6C2C-3102-3850731F0DBA}"/>
              </a:ext>
            </a:extLst>
          </p:cNvPr>
          <p:cNvSpPr txBox="1"/>
          <p:nvPr/>
        </p:nvSpPr>
        <p:spPr>
          <a:xfrm>
            <a:off x="6474873" y="2671178"/>
            <a:ext cx="1968459" cy="523220"/>
          </a:xfrm>
          <a:prstGeom prst="rect">
            <a:avLst/>
          </a:prstGeom>
          <a:noFill/>
        </p:spPr>
        <p:txBody>
          <a:bodyPr wrap="square" rtlCol="0">
            <a:spAutoFit/>
          </a:bodyPr>
          <a:lstStyle/>
          <a:p>
            <a:pPr algn="ctr"/>
            <a:r>
              <a:rPr lang="en-US" sz="2800" dirty="0"/>
              <a:t>Consent</a:t>
            </a:r>
          </a:p>
        </p:txBody>
      </p:sp>
      <p:sp>
        <p:nvSpPr>
          <p:cNvPr id="12" name="TextBox 11">
            <a:extLst>
              <a:ext uri="{FF2B5EF4-FFF2-40B4-BE49-F238E27FC236}">
                <a16:creationId xmlns:a16="http://schemas.microsoft.com/office/drawing/2014/main" id="{F487E04F-7601-1A61-4FFA-12752C89A279}"/>
              </a:ext>
            </a:extLst>
          </p:cNvPr>
          <p:cNvSpPr txBox="1"/>
          <p:nvPr/>
        </p:nvSpPr>
        <p:spPr>
          <a:xfrm>
            <a:off x="8838471" y="2719251"/>
            <a:ext cx="2113075" cy="523220"/>
          </a:xfrm>
          <a:prstGeom prst="rect">
            <a:avLst/>
          </a:prstGeom>
          <a:noFill/>
        </p:spPr>
        <p:txBody>
          <a:bodyPr wrap="square" rtlCol="0">
            <a:spAutoFit/>
          </a:bodyPr>
          <a:lstStyle/>
          <a:p>
            <a:pPr algn="ctr"/>
            <a:r>
              <a:rPr lang="en-US" sz="2800" dirty="0"/>
              <a:t>Recruitment</a:t>
            </a:r>
          </a:p>
        </p:txBody>
      </p:sp>
      <p:sp>
        <p:nvSpPr>
          <p:cNvPr id="4" name="TextBox 3">
            <a:extLst>
              <a:ext uri="{FF2B5EF4-FFF2-40B4-BE49-F238E27FC236}">
                <a16:creationId xmlns:a16="http://schemas.microsoft.com/office/drawing/2014/main" id="{A302A348-D65B-0431-05AF-FB31458341F2}"/>
              </a:ext>
            </a:extLst>
          </p:cNvPr>
          <p:cNvSpPr txBox="1"/>
          <p:nvPr/>
        </p:nvSpPr>
        <p:spPr>
          <a:xfrm>
            <a:off x="2187615" y="127321"/>
            <a:ext cx="7998107" cy="707886"/>
          </a:xfrm>
          <a:prstGeom prst="rect">
            <a:avLst/>
          </a:prstGeom>
          <a:noFill/>
        </p:spPr>
        <p:txBody>
          <a:bodyPr wrap="square" rtlCol="0">
            <a:spAutoFit/>
          </a:bodyPr>
          <a:lstStyle/>
          <a:p>
            <a:pPr algn="ctr"/>
            <a:r>
              <a:rPr lang="en-CA" sz="4000" b="1" dirty="0">
                <a:solidFill>
                  <a:srgbClr val="D55953"/>
                </a:solidFill>
              </a:rPr>
              <a:t>Online Experiment</a:t>
            </a:r>
          </a:p>
        </p:txBody>
      </p:sp>
      <p:sp>
        <p:nvSpPr>
          <p:cNvPr id="5" name="TextBox 4">
            <a:extLst>
              <a:ext uri="{FF2B5EF4-FFF2-40B4-BE49-F238E27FC236}">
                <a16:creationId xmlns:a16="http://schemas.microsoft.com/office/drawing/2014/main" id="{567A04B8-3EB5-7C59-4640-1D00CD06AB0D}"/>
              </a:ext>
            </a:extLst>
          </p:cNvPr>
          <p:cNvSpPr txBox="1"/>
          <p:nvPr/>
        </p:nvSpPr>
        <p:spPr>
          <a:xfrm>
            <a:off x="1588359" y="3796496"/>
            <a:ext cx="1791449" cy="369332"/>
          </a:xfrm>
          <a:prstGeom prst="rect">
            <a:avLst/>
          </a:prstGeom>
          <a:noFill/>
        </p:spPr>
        <p:txBody>
          <a:bodyPr wrap="square" rtlCol="0">
            <a:spAutoFit/>
          </a:bodyPr>
          <a:lstStyle/>
          <a:p>
            <a:pPr marL="285750" indent="-285750">
              <a:buFont typeface="Arial" panose="020B0604020202020204" pitchFamily="34" charset="0"/>
              <a:buChar char="•"/>
            </a:pPr>
            <a:r>
              <a:rPr lang="en-CA" dirty="0" err="1"/>
              <a:t>PsychoPy</a:t>
            </a:r>
            <a:endParaRPr lang="en-CA" dirty="0"/>
          </a:p>
        </p:txBody>
      </p:sp>
      <p:sp>
        <p:nvSpPr>
          <p:cNvPr id="6" name="TextBox 5">
            <a:extLst>
              <a:ext uri="{FF2B5EF4-FFF2-40B4-BE49-F238E27FC236}">
                <a16:creationId xmlns:a16="http://schemas.microsoft.com/office/drawing/2014/main" id="{9351DA7A-C682-0118-9DD2-136FFAE76B66}"/>
              </a:ext>
            </a:extLst>
          </p:cNvPr>
          <p:cNvSpPr txBox="1"/>
          <p:nvPr/>
        </p:nvSpPr>
        <p:spPr>
          <a:xfrm>
            <a:off x="4077148" y="3796496"/>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CA" dirty="0"/>
              <a:t>Pavlovia</a:t>
            </a:r>
          </a:p>
        </p:txBody>
      </p:sp>
      <p:sp>
        <p:nvSpPr>
          <p:cNvPr id="7" name="TextBox 6">
            <a:extLst>
              <a:ext uri="{FF2B5EF4-FFF2-40B4-BE49-F238E27FC236}">
                <a16:creationId xmlns:a16="http://schemas.microsoft.com/office/drawing/2014/main" id="{E041F328-5D89-39A6-0614-7A3EDEEF1558}"/>
              </a:ext>
            </a:extLst>
          </p:cNvPr>
          <p:cNvSpPr txBox="1"/>
          <p:nvPr/>
        </p:nvSpPr>
        <p:spPr>
          <a:xfrm>
            <a:off x="6474873" y="3761375"/>
            <a:ext cx="1879600" cy="1200329"/>
          </a:xfrm>
          <a:prstGeom prst="rect">
            <a:avLst/>
          </a:prstGeom>
          <a:noFill/>
        </p:spPr>
        <p:txBody>
          <a:bodyPr wrap="square" rtlCol="0">
            <a:spAutoFit/>
          </a:bodyPr>
          <a:lstStyle/>
          <a:p>
            <a:pPr marL="285750" indent="-285750">
              <a:buFont typeface="Arial" panose="020B0604020202020204" pitchFamily="34" charset="0"/>
              <a:buChar char="•"/>
            </a:pPr>
            <a:r>
              <a:rPr lang="en-CA" dirty="0"/>
              <a:t>Pavlovia Survey for online consent form</a:t>
            </a:r>
          </a:p>
        </p:txBody>
      </p:sp>
      <p:sp>
        <p:nvSpPr>
          <p:cNvPr id="8" name="TextBox 7">
            <a:extLst>
              <a:ext uri="{FF2B5EF4-FFF2-40B4-BE49-F238E27FC236}">
                <a16:creationId xmlns:a16="http://schemas.microsoft.com/office/drawing/2014/main" id="{762971B0-774F-E030-DDE0-19FBEB78C973}"/>
              </a:ext>
            </a:extLst>
          </p:cNvPr>
          <p:cNvSpPr txBox="1"/>
          <p:nvPr/>
        </p:nvSpPr>
        <p:spPr>
          <a:xfrm>
            <a:off x="9118245" y="3796496"/>
            <a:ext cx="1879600" cy="646331"/>
          </a:xfrm>
          <a:prstGeom prst="rect">
            <a:avLst/>
          </a:prstGeom>
          <a:noFill/>
        </p:spPr>
        <p:txBody>
          <a:bodyPr wrap="square" rtlCol="0">
            <a:spAutoFit/>
          </a:bodyPr>
          <a:lstStyle/>
          <a:p>
            <a:pPr marL="285750" indent="-285750">
              <a:buFont typeface="Arial" panose="020B0604020202020204" pitchFamily="34" charset="0"/>
              <a:buChar char="•"/>
            </a:pPr>
            <a:r>
              <a:rPr lang="en-CA" dirty="0"/>
              <a:t>URPP </a:t>
            </a:r>
          </a:p>
          <a:p>
            <a:pPr marL="285750" indent="-285750">
              <a:buFont typeface="Arial" panose="020B0604020202020204" pitchFamily="34" charset="0"/>
              <a:buChar char="•"/>
            </a:pPr>
            <a:r>
              <a:rPr lang="en-CA" dirty="0"/>
              <a:t>Prolific </a:t>
            </a:r>
          </a:p>
        </p:txBody>
      </p:sp>
      <p:pic>
        <p:nvPicPr>
          <p:cNvPr id="2" name="Picture 4" descr="Home — PsychoPy v3.0">
            <a:extLst>
              <a:ext uri="{FF2B5EF4-FFF2-40B4-BE49-F238E27FC236}">
                <a16:creationId xmlns:a16="http://schemas.microsoft.com/office/drawing/2014/main" id="{5FC659BF-03D1-193E-EA49-873D960B69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023" y="1850801"/>
            <a:ext cx="1867936" cy="79216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Pavlovia">
            <a:extLst>
              <a:ext uri="{FF2B5EF4-FFF2-40B4-BE49-F238E27FC236}">
                <a16:creationId xmlns:a16="http://schemas.microsoft.com/office/drawing/2014/main" id="{E7057D38-2927-7F37-4A5D-18D1E48459A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6775" y="1749473"/>
            <a:ext cx="863639" cy="86363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Pavlovia">
            <a:extLst>
              <a:ext uri="{FF2B5EF4-FFF2-40B4-BE49-F238E27FC236}">
                <a16:creationId xmlns:a16="http://schemas.microsoft.com/office/drawing/2014/main" id="{42C369CC-F785-86FB-3995-6FD91145B0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7966" y="1888766"/>
            <a:ext cx="854171" cy="8541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pen Science Tools Ltd.">
            <a:extLst>
              <a:ext uri="{FF2B5EF4-FFF2-40B4-BE49-F238E27FC236}">
                <a16:creationId xmlns:a16="http://schemas.microsoft.com/office/drawing/2014/main" id="{7B1FF704-07B6-D9AD-F051-5A4A2144E5F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4100" y="1817314"/>
            <a:ext cx="785002" cy="92531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SonaSystems - YouTube">
            <a:extLst>
              <a:ext uri="{FF2B5EF4-FFF2-40B4-BE49-F238E27FC236}">
                <a16:creationId xmlns:a16="http://schemas.microsoft.com/office/drawing/2014/main" id="{3C65FE80-FA38-F2F6-C34E-78BC172A7E23}"/>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5510" b="23733"/>
          <a:stretch/>
        </p:blipFill>
        <p:spPr bwMode="auto">
          <a:xfrm>
            <a:off x="9227465" y="1657843"/>
            <a:ext cx="1296395" cy="65800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rolific - Insight Platforms">
            <a:extLst>
              <a:ext uri="{FF2B5EF4-FFF2-40B4-BE49-F238E27FC236}">
                <a16:creationId xmlns:a16="http://schemas.microsoft.com/office/drawing/2014/main" id="{5C51A55A-2F45-BDCD-2349-E11C868E5261}"/>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40316" b="39196"/>
          <a:stretch/>
        </p:blipFill>
        <p:spPr bwMode="auto">
          <a:xfrm>
            <a:off x="9012498" y="2407946"/>
            <a:ext cx="1726331" cy="353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9760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up)">
                                      <p:cBhvr>
                                        <p:cTn id="8" dur="500"/>
                                        <p:tgtEl>
                                          <p:spTgt spid="2"/>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p:tgtEl>
                                          <p:spTgt spid="5"/>
                                        </p:tgtEl>
                                        <p:attrNameLst>
                                          <p:attrName>ppt_y</p:attrName>
                                        </p:attrNameLst>
                                      </p:cBhvr>
                                      <p:tavLst>
                                        <p:tav tm="0">
                                          <p:val>
                                            <p:strVal val="#ppt_y+#ppt_h*1.125000"/>
                                          </p:val>
                                        </p:tav>
                                        <p:tav tm="100000">
                                          <p:val>
                                            <p:strVal val="#ppt_y"/>
                                          </p:val>
                                        </p:tav>
                                      </p:tavLst>
                                    </p:anim>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p:tgtEl>
                                          <p:spTgt spid="9"/>
                                        </p:tgtEl>
                                        <p:attrNameLst>
                                          <p:attrName>ppt_y</p:attrName>
                                        </p:attrNameLst>
                                      </p:cBhvr>
                                      <p:tavLst>
                                        <p:tav tm="0">
                                          <p:val>
                                            <p:strVal val="#ppt_y+#ppt_h*1.125000"/>
                                          </p:val>
                                        </p:tav>
                                        <p:tav tm="100000">
                                          <p:val>
                                            <p:strVal val="#ppt_y"/>
                                          </p:val>
                                        </p:tav>
                                      </p:tavLst>
                                    </p:anim>
                                    <p:animEffect transition="in" filter="wipe(up)">
                                      <p:cBhvr>
                                        <p:cTn id="18" dur="500"/>
                                        <p:tgtEl>
                                          <p:spTgt spid="9"/>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p:tgtEl>
                                          <p:spTgt spid="6"/>
                                        </p:tgtEl>
                                        <p:attrNameLst>
                                          <p:attrName>ppt_y</p:attrName>
                                        </p:attrNameLst>
                                      </p:cBhvr>
                                      <p:tavLst>
                                        <p:tav tm="0">
                                          <p:val>
                                            <p:strVal val="#ppt_y+#ppt_h*1.125000"/>
                                          </p:val>
                                        </p:tav>
                                        <p:tav tm="100000">
                                          <p:val>
                                            <p:strVal val="#ppt_y"/>
                                          </p:val>
                                        </p:tav>
                                      </p:tavLst>
                                    </p:anim>
                                    <p:animEffect transition="in" filter="wipe(up)">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nodeType="clickEffect">
                                  <p:stCondLst>
                                    <p:cond delay="0"/>
                                  </p:stCondLst>
                                  <p:childTnLst>
                                    <p:set>
                                      <p:cBhvr>
                                        <p:cTn id="26" dur="1" fill="hold">
                                          <p:stCondLst>
                                            <p:cond delay="0"/>
                                          </p:stCondLst>
                                        </p:cTn>
                                        <p:tgtEl>
                                          <p:spTgt spid="1028"/>
                                        </p:tgtEl>
                                        <p:attrNameLst>
                                          <p:attrName>style.visibility</p:attrName>
                                        </p:attrNameLst>
                                      </p:cBhvr>
                                      <p:to>
                                        <p:strVal val="visible"/>
                                      </p:to>
                                    </p:set>
                                    <p:anim calcmode="lin" valueType="num">
                                      <p:cBhvr additive="base">
                                        <p:cTn id="27" dur="500"/>
                                        <p:tgtEl>
                                          <p:spTgt spid="1028"/>
                                        </p:tgtEl>
                                        <p:attrNameLst>
                                          <p:attrName>ppt_y</p:attrName>
                                        </p:attrNameLst>
                                      </p:cBhvr>
                                      <p:tavLst>
                                        <p:tav tm="0">
                                          <p:val>
                                            <p:strVal val="#ppt_y+#ppt_h*1.125000"/>
                                          </p:val>
                                        </p:tav>
                                        <p:tav tm="100000">
                                          <p:val>
                                            <p:strVal val="#ppt_y"/>
                                          </p:val>
                                        </p:tav>
                                      </p:tavLst>
                                    </p:anim>
                                    <p:animEffect transition="in" filter="wipe(up)">
                                      <p:cBhvr>
                                        <p:cTn id="28" dur="500"/>
                                        <p:tgtEl>
                                          <p:spTgt spid="1028"/>
                                        </p:tgtEl>
                                      </p:cBhvr>
                                    </p:animEffect>
                                  </p:childTnLst>
                                </p:cTn>
                              </p:par>
                              <p:par>
                                <p:cTn id="29" presetID="12" presetClass="entr" presetSubtype="4"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p:tgtEl>
                                          <p:spTgt spid="13"/>
                                        </p:tgtEl>
                                        <p:attrNameLst>
                                          <p:attrName>ppt_y</p:attrName>
                                        </p:attrNameLst>
                                      </p:cBhvr>
                                      <p:tavLst>
                                        <p:tav tm="0">
                                          <p:val>
                                            <p:strVal val="#ppt_y+#ppt_h*1.125000"/>
                                          </p:val>
                                        </p:tav>
                                        <p:tav tm="100000">
                                          <p:val>
                                            <p:strVal val="#ppt_y"/>
                                          </p:val>
                                        </p:tav>
                                      </p:tavLst>
                                    </p:anim>
                                    <p:animEffect transition="in" filter="wipe(up)">
                                      <p:cBhvr>
                                        <p:cTn id="32" dur="500"/>
                                        <p:tgtEl>
                                          <p:spTgt spid="13"/>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additive="base">
                                        <p:cTn id="35" dur="500"/>
                                        <p:tgtEl>
                                          <p:spTgt spid="7"/>
                                        </p:tgtEl>
                                        <p:attrNameLst>
                                          <p:attrName>ppt_y</p:attrName>
                                        </p:attrNameLst>
                                      </p:cBhvr>
                                      <p:tavLst>
                                        <p:tav tm="0">
                                          <p:val>
                                            <p:strVal val="#ppt_y+#ppt_h*1.125000"/>
                                          </p:val>
                                        </p:tav>
                                        <p:tav tm="100000">
                                          <p:val>
                                            <p:strVal val="#ppt_y"/>
                                          </p:val>
                                        </p:tav>
                                      </p:tavLst>
                                    </p:anim>
                                    <p:animEffect transition="in" filter="wipe(up)">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4" fill="hold" nodeType="clickEffect">
                                  <p:stCondLst>
                                    <p:cond delay="0"/>
                                  </p:stCondLst>
                                  <p:childTnLst>
                                    <p:set>
                                      <p:cBhvr>
                                        <p:cTn id="40" dur="1" fill="hold">
                                          <p:stCondLst>
                                            <p:cond delay="0"/>
                                          </p:stCondLst>
                                        </p:cTn>
                                        <p:tgtEl>
                                          <p:spTgt spid="1032"/>
                                        </p:tgtEl>
                                        <p:attrNameLst>
                                          <p:attrName>style.visibility</p:attrName>
                                        </p:attrNameLst>
                                      </p:cBhvr>
                                      <p:to>
                                        <p:strVal val="visible"/>
                                      </p:to>
                                    </p:set>
                                    <p:anim calcmode="lin" valueType="num">
                                      <p:cBhvr additive="base">
                                        <p:cTn id="41" dur="500"/>
                                        <p:tgtEl>
                                          <p:spTgt spid="1032"/>
                                        </p:tgtEl>
                                        <p:attrNameLst>
                                          <p:attrName>ppt_y</p:attrName>
                                        </p:attrNameLst>
                                      </p:cBhvr>
                                      <p:tavLst>
                                        <p:tav tm="0">
                                          <p:val>
                                            <p:strVal val="#ppt_y+#ppt_h*1.125000"/>
                                          </p:val>
                                        </p:tav>
                                        <p:tav tm="100000">
                                          <p:val>
                                            <p:strVal val="#ppt_y"/>
                                          </p:val>
                                        </p:tav>
                                      </p:tavLst>
                                    </p:anim>
                                    <p:animEffect transition="in" filter="wipe(up)">
                                      <p:cBhvr>
                                        <p:cTn id="42" dur="500"/>
                                        <p:tgtEl>
                                          <p:spTgt spid="1032"/>
                                        </p:tgtEl>
                                      </p:cBhvr>
                                    </p:animEffect>
                                  </p:childTnLst>
                                </p:cTn>
                              </p:par>
                              <p:par>
                                <p:cTn id="43" presetID="12" presetClass="entr" presetSubtype="4"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p:tgtEl>
                                          <p:spTgt spid="14"/>
                                        </p:tgtEl>
                                        <p:attrNameLst>
                                          <p:attrName>ppt_y</p:attrName>
                                        </p:attrNameLst>
                                      </p:cBhvr>
                                      <p:tavLst>
                                        <p:tav tm="0">
                                          <p:val>
                                            <p:strVal val="#ppt_y+#ppt_h*1.125000"/>
                                          </p:val>
                                        </p:tav>
                                        <p:tav tm="100000">
                                          <p:val>
                                            <p:strVal val="#ppt_y"/>
                                          </p:val>
                                        </p:tav>
                                      </p:tavLst>
                                    </p:anim>
                                    <p:animEffect transition="in" filter="wipe(up)">
                                      <p:cBhvr>
                                        <p:cTn id="46" dur="500"/>
                                        <p:tgtEl>
                                          <p:spTgt spid="14"/>
                                        </p:tgtEl>
                                      </p:cBhvr>
                                    </p:animEffect>
                                  </p:childTnLst>
                                </p:cTn>
                              </p:par>
                              <p:par>
                                <p:cTn id="47" presetID="12" presetClass="entr" presetSubtype="4" fill="hold" grpId="0" nodeType="with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p:tgtEl>
                                          <p:spTgt spid="8"/>
                                        </p:tgtEl>
                                        <p:attrNameLst>
                                          <p:attrName>ppt_y</p:attrName>
                                        </p:attrNameLst>
                                      </p:cBhvr>
                                      <p:tavLst>
                                        <p:tav tm="0">
                                          <p:val>
                                            <p:strVal val="#ppt_y+#ppt_h*1.125000"/>
                                          </p:val>
                                        </p:tav>
                                        <p:tav tm="100000">
                                          <p:val>
                                            <p:strVal val="#ppt_y"/>
                                          </p:val>
                                        </p:tav>
                                      </p:tavLst>
                                    </p:anim>
                                    <p:animEffect transition="in" filter="wipe(up)">
                                      <p:cBhvr>
                                        <p:cTn id="5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678BB33-49B0-ABF1-C73A-9C9CBEC16B20}"/>
            </a:ext>
          </a:extLst>
        </p:cNvPr>
        <p:cNvGrpSpPr/>
        <p:nvPr/>
      </p:nvGrpSpPr>
      <p:grpSpPr>
        <a:xfrm>
          <a:off x="0" y="0"/>
          <a:ext cx="0" cy="0"/>
          <a:chOff x="0" y="0"/>
          <a:chExt cx="0" cy="0"/>
        </a:xfrm>
      </p:grpSpPr>
      <p:pic>
        <p:nvPicPr>
          <p:cNvPr id="1026" name="Picture 2" descr="Toy Blocks Pictures | Download Free Images on Unsplash">
            <a:extLst>
              <a:ext uri="{FF2B5EF4-FFF2-40B4-BE49-F238E27FC236}">
                <a16:creationId xmlns:a16="http://schemas.microsoft.com/office/drawing/2014/main" id="{FAB8AFA2-0626-4FB2-E8EC-9710913F94C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56" t="10157" r="6403" b="15939"/>
          <a:stretch/>
        </p:blipFill>
        <p:spPr bwMode="auto">
          <a:xfrm>
            <a:off x="0" y="-1"/>
            <a:ext cx="12190478" cy="6858000"/>
          </a:xfrm>
          <a:prstGeom prst="rect">
            <a:avLst/>
          </a:prstGeom>
          <a:noFill/>
          <a:extLst>
            <a:ext uri="{909E8E84-426E-40DD-AFC4-6F175D3DCCD1}">
              <a14:hiddenFill xmlns:a14="http://schemas.microsoft.com/office/drawing/2010/main">
                <a:solidFill>
                  <a:srgbClr val="FFFFFF"/>
                </a:solidFill>
              </a14:hiddenFill>
            </a:ext>
          </a:extLst>
        </p:spPr>
      </p:pic>
      <p:sp>
        <p:nvSpPr>
          <p:cNvPr id="1030" name="Rectangle 191">
            <a:extLst>
              <a:ext uri="{FF2B5EF4-FFF2-40B4-BE49-F238E27FC236}">
                <a16:creationId xmlns:a16="http://schemas.microsoft.com/office/drawing/2014/main" id="{B48EF7BE-E333-C64F-D561-E9A09921AB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extBox 2">
            <a:extLst>
              <a:ext uri="{FF2B5EF4-FFF2-40B4-BE49-F238E27FC236}">
                <a16:creationId xmlns:a16="http://schemas.microsoft.com/office/drawing/2014/main" id="{41B839C6-398F-56B5-A378-1E1F82473C0F}"/>
              </a:ext>
            </a:extLst>
          </p:cNvPr>
          <p:cNvSpPr txBox="1"/>
          <p:nvPr/>
        </p:nvSpPr>
        <p:spPr>
          <a:xfrm>
            <a:off x="1588359" y="2719251"/>
            <a:ext cx="1879600" cy="523220"/>
          </a:xfrm>
          <a:prstGeom prst="rect">
            <a:avLst/>
          </a:prstGeom>
          <a:noFill/>
        </p:spPr>
        <p:txBody>
          <a:bodyPr wrap="square" rtlCol="0">
            <a:spAutoFit/>
          </a:bodyPr>
          <a:lstStyle/>
          <a:p>
            <a:pPr algn="ctr"/>
            <a:r>
              <a:rPr lang="en-US" sz="2800" dirty="0"/>
              <a:t>Building </a:t>
            </a:r>
          </a:p>
        </p:txBody>
      </p:sp>
      <p:sp>
        <p:nvSpPr>
          <p:cNvPr id="10" name="TextBox 9">
            <a:extLst>
              <a:ext uri="{FF2B5EF4-FFF2-40B4-BE49-F238E27FC236}">
                <a16:creationId xmlns:a16="http://schemas.microsoft.com/office/drawing/2014/main" id="{9978B754-AEF1-12CB-C24F-21646F48D3CE}"/>
              </a:ext>
            </a:extLst>
          </p:cNvPr>
          <p:cNvSpPr txBox="1"/>
          <p:nvPr/>
        </p:nvSpPr>
        <p:spPr>
          <a:xfrm>
            <a:off x="4077148" y="2719251"/>
            <a:ext cx="1879600" cy="523220"/>
          </a:xfrm>
          <a:prstGeom prst="rect">
            <a:avLst/>
          </a:prstGeom>
          <a:noFill/>
        </p:spPr>
        <p:txBody>
          <a:bodyPr wrap="square" rtlCol="0">
            <a:spAutoFit/>
          </a:bodyPr>
          <a:lstStyle/>
          <a:p>
            <a:pPr algn="ctr"/>
            <a:r>
              <a:rPr lang="en-US" sz="2800" dirty="0"/>
              <a:t>Hosting</a:t>
            </a:r>
          </a:p>
        </p:txBody>
      </p:sp>
      <p:sp>
        <p:nvSpPr>
          <p:cNvPr id="11" name="TextBox 10">
            <a:extLst>
              <a:ext uri="{FF2B5EF4-FFF2-40B4-BE49-F238E27FC236}">
                <a16:creationId xmlns:a16="http://schemas.microsoft.com/office/drawing/2014/main" id="{0D760D99-3A53-374C-B504-C0DFC557529E}"/>
              </a:ext>
            </a:extLst>
          </p:cNvPr>
          <p:cNvSpPr txBox="1"/>
          <p:nvPr/>
        </p:nvSpPr>
        <p:spPr>
          <a:xfrm>
            <a:off x="6474873" y="2671178"/>
            <a:ext cx="1968459" cy="523220"/>
          </a:xfrm>
          <a:prstGeom prst="rect">
            <a:avLst/>
          </a:prstGeom>
          <a:noFill/>
        </p:spPr>
        <p:txBody>
          <a:bodyPr wrap="square" rtlCol="0">
            <a:spAutoFit/>
          </a:bodyPr>
          <a:lstStyle/>
          <a:p>
            <a:pPr algn="ctr"/>
            <a:r>
              <a:rPr lang="en-US" sz="2800" dirty="0"/>
              <a:t>Consent</a:t>
            </a:r>
          </a:p>
        </p:txBody>
      </p:sp>
      <p:sp>
        <p:nvSpPr>
          <p:cNvPr id="12" name="TextBox 11">
            <a:extLst>
              <a:ext uri="{FF2B5EF4-FFF2-40B4-BE49-F238E27FC236}">
                <a16:creationId xmlns:a16="http://schemas.microsoft.com/office/drawing/2014/main" id="{9627B627-215E-A128-CB6C-156BD062798A}"/>
              </a:ext>
            </a:extLst>
          </p:cNvPr>
          <p:cNvSpPr txBox="1"/>
          <p:nvPr/>
        </p:nvSpPr>
        <p:spPr>
          <a:xfrm>
            <a:off x="8838471" y="2719251"/>
            <a:ext cx="2113075" cy="523220"/>
          </a:xfrm>
          <a:prstGeom prst="rect">
            <a:avLst/>
          </a:prstGeom>
          <a:noFill/>
        </p:spPr>
        <p:txBody>
          <a:bodyPr wrap="square" rtlCol="0">
            <a:spAutoFit/>
          </a:bodyPr>
          <a:lstStyle/>
          <a:p>
            <a:pPr algn="ctr"/>
            <a:r>
              <a:rPr lang="en-US" sz="2800" dirty="0"/>
              <a:t>Recruitment</a:t>
            </a:r>
          </a:p>
        </p:txBody>
      </p:sp>
      <p:sp>
        <p:nvSpPr>
          <p:cNvPr id="4" name="TextBox 3">
            <a:extLst>
              <a:ext uri="{FF2B5EF4-FFF2-40B4-BE49-F238E27FC236}">
                <a16:creationId xmlns:a16="http://schemas.microsoft.com/office/drawing/2014/main" id="{A59FD163-8BE6-B2DD-4DE7-4D160B194A8F}"/>
              </a:ext>
            </a:extLst>
          </p:cNvPr>
          <p:cNvSpPr txBox="1"/>
          <p:nvPr/>
        </p:nvSpPr>
        <p:spPr>
          <a:xfrm>
            <a:off x="2187615" y="127321"/>
            <a:ext cx="7998107" cy="707886"/>
          </a:xfrm>
          <a:prstGeom prst="rect">
            <a:avLst/>
          </a:prstGeom>
          <a:noFill/>
        </p:spPr>
        <p:txBody>
          <a:bodyPr wrap="square" rtlCol="0">
            <a:spAutoFit/>
          </a:bodyPr>
          <a:lstStyle/>
          <a:p>
            <a:pPr algn="ctr"/>
            <a:r>
              <a:rPr lang="en-CA" sz="4000" b="1" dirty="0">
                <a:solidFill>
                  <a:srgbClr val="D55953"/>
                </a:solidFill>
              </a:rPr>
              <a:t>Online Experiment</a:t>
            </a:r>
          </a:p>
        </p:txBody>
      </p:sp>
      <p:sp>
        <p:nvSpPr>
          <p:cNvPr id="5" name="TextBox 4">
            <a:extLst>
              <a:ext uri="{FF2B5EF4-FFF2-40B4-BE49-F238E27FC236}">
                <a16:creationId xmlns:a16="http://schemas.microsoft.com/office/drawing/2014/main" id="{6616ADF2-697B-5468-F753-7A2B7B944E14}"/>
              </a:ext>
            </a:extLst>
          </p:cNvPr>
          <p:cNvSpPr txBox="1"/>
          <p:nvPr/>
        </p:nvSpPr>
        <p:spPr>
          <a:xfrm>
            <a:off x="1588359" y="3796496"/>
            <a:ext cx="1791449" cy="369332"/>
          </a:xfrm>
          <a:prstGeom prst="rect">
            <a:avLst/>
          </a:prstGeom>
          <a:noFill/>
        </p:spPr>
        <p:txBody>
          <a:bodyPr wrap="square" rtlCol="0">
            <a:spAutoFit/>
          </a:bodyPr>
          <a:lstStyle/>
          <a:p>
            <a:pPr marL="285750" indent="-285750">
              <a:buFont typeface="Arial" panose="020B0604020202020204" pitchFamily="34" charset="0"/>
              <a:buChar char="•"/>
            </a:pPr>
            <a:r>
              <a:rPr lang="en-CA" dirty="0" err="1"/>
              <a:t>PsychoPy</a:t>
            </a:r>
            <a:endParaRPr lang="en-CA" dirty="0"/>
          </a:p>
        </p:txBody>
      </p:sp>
      <p:sp>
        <p:nvSpPr>
          <p:cNvPr id="6" name="TextBox 5">
            <a:extLst>
              <a:ext uri="{FF2B5EF4-FFF2-40B4-BE49-F238E27FC236}">
                <a16:creationId xmlns:a16="http://schemas.microsoft.com/office/drawing/2014/main" id="{129CA083-CBAF-07C8-6EE8-804AB2E912E2}"/>
              </a:ext>
            </a:extLst>
          </p:cNvPr>
          <p:cNvSpPr txBox="1"/>
          <p:nvPr/>
        </p:nvSpPr>
        <p:spPr>
          <a:xfrm>
            <a:off x="4077148" y="3796496"/>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CA" dirty="0"/>
              <a:t>Pavlovia</a:t>
            </a:r>
          </a:p>
        </p:txBody>
      </p:sp>
      <p:sp>
        <p:nvSpPr>
          <p:cNvPr id="7" name="TextBox 6">
            <a:extLst>
              <a:ext uri="{FF2B5EF4-FFF2-40B4-BE49-F238E27FC236}">
                <a16:creationId xmlns:a16="http://schemas.microsoft.com/office/drawing/2014/main" id="{8C311733-0FDC-74B6-CDE8-9614171B144B}"/>
              </a:ext>
            </a:extLst>
          </p:cNvPr>
          <p:cNvSpPr txBox="1"/>
          <p:nvPr/>
        </p:nvSpPr>
        <p:spPr>
          <a:xfrm>
            <a:off x="6474873" y="3761375"/>
            <a:ext cx="1879600" cy="1200329"/>
          </a:xfrm>
          <a:prstGeom prst="rect">
            <a:avLst/>
          </a:prstGeom>
          <a:noFill/>
        </p:spPr>
        <p:txBody>
          <a:bodyPr wrap="square" rtlCol="0">
            <a:spAutoFit/>
          </a:bodyPr>
          <a:lstStyle/>
          <a:p>
            <a:pPr marL="285750" indent="-285750">
              <a:buFont typeface="Arial" panose="020B0604020202020204" pitchFamily="34" charset="0"/>
              <a:buChar char="•"/>
            </a:pPr>
            <a:r>
              <a:rPr lang="en-CA" dirty="0"/>
              <a:t>Pavlovia survey for online consent form</a:t>
            </a:r>
          </a:p>
        </p:txBody>
      </p:sp>
      <p:sp>
        <p:nvSpPr>
          <p:cNvPr id="8" name="TextBox 7">
            <a:extLst>
              <a:ext uri="{FF2B5EF4-FFF2-40B4-BE49-F238E27FC236}">
                <a16:creationId xmlns:a16="http://schemas.microsoft.com/office/drawing/2014/main" id="{219CBB04-58A2-5202-98D3-461A3F924804}"/>
              </a:ext>
            </a:extLst>
          </p:cNvPr>
          <p:cNvSpPr txBox="1"/>
          <p:nvPr/>
        </p:nvSpPr>
        <p:spPr>
          <a:xfrm>
            <a:off x="9118245" y="3796496"/>
            <a:ext cx="1879600" cy="646331"/>
          </a:xfrm>
          <a:prstGeom prst="rect">
            <a:avLst/>
          </a:prstGeom>
          <a:noFill/>
        </p:spPr>
        <p:txBody>
          <a:bodyPr wrap="square" rtlCol="0">
            <a:spAutoFit/>
          </a:bodyPr>
          <a:lstStyle/>
          <a:p>
            <a:pPr marL="285750" indent="-285750">
              <a:buFont typeface="Arial" panose="020B0604020202020204" pitchFamily="34" charset="0"/>
              <a:buChar char="•"/>
            </a:pPr>
            <a:r>
              <a:rPr lang="en-CA" dirty="0"/>
              <a:t>URPP </a:t>
            </a:r>
          </a:p>
          <a:p>
            <a:pPr marL="285750" indent="-285750">
              <a:buFont typeface="Arial" panose="020B0604020202020204" pitchFamily="34" charset="0"/>
              <a:buChar char="•"/>
            </a:pPr>
            <a:r>
              <a:rPr lang="en-CA" dirty="0"/>
              <a:t>Prolific </a:t>
            </a:r>
          </a:p>
        </p:txBody>
      </p:sp>
      <p:pic>
        <p:nvPicPr>
          <p:cNvPr id="2" name="Picture 4" descr="Home — PsychoPy v3.0">
            <a:extLst>
              <a:ext uri="{FF2B5EF4-FFF2-40B4-BE49-F238E27FC236}">
                <a16:creationId xmlns:a16="http://schemas.microsoft.com/office/drawing/2014/main" id="{84BCBE5E-88FD-01C0-6ABB-D8B757F202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023" y="1850801"/>
            <a:ext cx="1867936" cy="79216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Pavlovia">
            <a:extLst>
              <a:ext uri="{FF2B5EF4-FFF2-40B4-BE49-F238E27FC236}">
                <a16:creationId xmlns:a16="http://schemas.microsoft.com/office/drawing/2014/main" id="{D8BCDBE3-6262-50DF-31D2-FBECE538B2A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6775" y="1749473"/>
            <a:ext cx="863639" cy="86363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Pavlovia">
            <a:extLst>
              <a:ext uri="{FF2B5EF4-FFF2-40B4-BE49-F238E27FC236}">
                <a16:creationId xmlns:a16="http://schemas.microsoft.com/office/drawing/2014/main" id="{D1AA6DA8-2835-FD6B-CF2F-AA86EC2F8D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7966" y="1888766"/>
            <a:ext cx="854171" cy="8541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pen Science Tools Ltd.">
            <a:extLst>
              <a:ext uri="{FF2B5EF4-FFF2-40B4-BE49-F238E27FC236}">
                <a16:creationId xmlns:a16="http://schemas.microsoft.com/office/drawing/2014/main" id="{0704C8D0-B128-9C11-7630-7EF6450C2A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4100" y="1817314"/>
            <a:ext cx="785002" cy="92531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SonaSystems - YouTube">
            <a:extLst>
              <a:ext uri="{FF2B5EF4-FFF2-40B4-BE49-F238E27FC236}">
                <a16:creationId xmlns:a16="http://schemas.microsoft.com/office/drawing/2014/main" id="{B45343BB-9056-723E-CFCB-DF2BF31707F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5510" b="23733"/>
          <a:stretch/>
        </p:blipFill>
        <p:spPr bwMode="auto">
          <a:xfrm>
            <a:off x="9227467" y="2084622"/>
            <a:ext cx="1296395" cy="65800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rolific - Insight Platforms">
            <a:extLst>
              <a:ext uri="{FF2B5EF4-FFF2-40B4-BE49-F238E27FC236}">
                <a16:creationId xmlns:a16="http://schemas.microsoft.com/office/drawing/2014/main" id="{63B28397-B4AD-3AE0-35DD-4C6D1E4510F5}"/>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40316" b="39196"/>
          <a:stretch/>
        </p:blipFill>
        <p:spPr bwMode="auto">
          <a:xfrm>
            <a:off x="8924149" y="1572628"/>
            <a:ext cx="1726331" cy="35368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few wooden cubes with different logos&#10;&#10;AI-generated content may be incorrect.">
            <a:extLst>
              <a:ext uri="{FF2B5EF4-FFF2-40B4-BE49-F238E27FC236}">
                <a16:creationId xmlns:a16="http://schemas.microsoft.com/office/drawing/2014/main" id="{54D78726-EADE-9F5B-6C0C-7266835DDD4B}"/>
              </a:ext>
            </a:extLst>
          </p:cNvPr>
          <p:cNvPicPr>
            <a:picLocks noChangeAspect="1"/>
          </p:cNvPicPr>
          <p:nvPr/>
        </p:nvPicPr>
        <p:blipFill>
          <a:blip r:embed="rId9">
            <a:extLst>
              <a:ext uri="{BEBA8EAE-BF5A-486C-A8C5-ECC9F3942E4B}">
                <a14:imgProps xmlns:a14="http://schemas.microsoft.com/office/drawing/2010/main">
                  <a14:imgLayer r:embed="rId10">
                    <a14:imgEffect>
                      <a14:artisticBlur/>
                    </a14:imgEffect>
                  </a14:imgLayer>
                </a14:imgProps>
              </a:ext>
            </a:extLst>
          </a:blip>
          <a:stretch>
            <a:fillRect/>
          </a:stretch>
        </p:blipFill>
        <p:spPr>
          <a:xfrm>
            <a:off x="3770328" y="1154079"/>
            <a:ext cx="8421672" cy="5703921"/>
          </a:xfrm>
          <a:prstGeom prst="rect">
            <a:avLst/>
          </a:prstGeom>
        </p:spPr>
      </p:pic>
    </p:spTree>
    <p:extLst>
      <p:ext uri="{BB962C8B-B14F-4D97-AF65-F5344CB8AC3E}">
        <p14:creationId xmlns:p14="http://schemas.microsoft.com/office/powerpoint/2010/main" val="2296656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 name="Rectangle 13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148" name="Picture 4" descr="164,966 BEST Stacked Blocks IMAGES, STOCK PHOTOS &amp;amp; VECTORS | Adobe Stock">
            <a:extLst>
              <a:ext uri="{FF2B5EF4-FFF2-40B4-BE49-F238E27FC236}">
                <a16:creationId xmlns:a16="http://schemas.microsoft.com/office/drawing/2014/main" id="{3513E8EF-9D54-6E4A-AFCA-C83426DE72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63"/>
          <a:stretch/>
        </p:blipFill>
        <p:spPr bwMode="auto">
          <a:xfrm>
            <a:off x="0" y="127426"/>
            <a:ext cx="8312698" cy="673057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164,966 BEST Stacked Blocks IMAGES, STOCK PHOTOS &amp;amp; VECTORS | Adobe Stock">
            <a:extLst>
              <a:ext uri="{FF2B5EF4-FFF2-40B4-BE49-F238E27FC236}">
                <a16:creationId xmlns:a16="http://schemas.microsoft.com/office/drawing/2014/main" id="{FC30A533-E5C7-BD45-8E21-E06A1AD588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296" r="1"/>
          <a:stretch/>
        </p:blipFill>
        <p:spPr bwMode="auto">
          <a:xfrm>
            <a:off x="7072884" y="127426"/>
            <a:ext cx="5119116" cy="673057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7DFCFEF-87E3-2449-9F65-9C920C2481F9}"/>
              </a:ext>
            </a:extLst>
          </p:cNvPr>
          <p:cNvSpPr txBox="1"/>
          <p:nvPr/>
        </p:nvSpPr>
        <p:spPr>
          <a:xfrm>
            <a:off x="0" y="127425"/>
            <a:ext cx="4338084" cy="646331"/>
          </a:xfrm>
          <a:prstGeom prst="rect">
            <a:avLst/>
          </a:prstGeom>
          <a:solidFill>
            <a:srgbClr val="C00000">
              <a:alpha val="72000"/>
            </a:srgbClr>
          </a:solidFill>
        </p:spPr>
        <p:txBody>
          <a:bodyPr wrap="square" rtlCol="0">
            <a:spAutoFit/>
          </a:bodyPr>
          <a:lstStyle/>
          <a:p>
            <a:pPr algn="ctr"/>
            <a:r>
              <a:rPr lang="en-US" sz="3600" dirty="0">
                <a:solidFill>
                  <a:schemeClr val="bg1"/>
                </a:solidFill>
              </a:rPr>
              <a:t>BUILD EXPERIMENT</a:t>
            </a:r>
          </a:p>
        </p:txBody>
      </p:sp>
      <p:pic>
        <p:nvPicPr>
          <p:cNvPr id="13" name="Picture 4" descr="Home — PsychoPy v3.0">
            <a:extLst>
              <a:ext uri="{FF2B5EF4-FFF2-40B4-BE49-F238E27FC236}">
                <a16:creationId xmlns:a16="http://schemas.microsoft.com/office/drawing/2014/main" id="{B26AED37-C78F-E48B-37C7-D1E0DC2CA00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472"/>
          <a:stretch/>
        </p:blipFill>
        <p:spPr bwMode="auto">
          <a:xfrm>
            <a:off x="5544410" y="295400"/>
            <a:ext cx="4338085" cy="170815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B240B646-6D56-4B9A-E647-0649EAE63E46}"/>
              </a:ext>
            </a:extLst>
          </p:cNvPr>
          <p:cNvSpPr txBox="1"/>
          <p:nvPr/>
        </p:nvSpPr>
        <p:spPr>
          <a:xfrm>
            <a:off x="4338084" y="2514249"/>
            <a:ext cx="7481211" cy="754694"/>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3200" b="1" dirty="0">
                <a:latin typeface="Calibri" panose="020F0502020204030204" pitchFamily="34" charset="0"/>
                <a:cs typeface="Calibri" panose="020F0502020204030204" pitchFamily="34" charset="0"/>
              </a:rPr>
              <a:t>Free</a:t>
            </a:r>
            <a:r>
              <a:rPr lang="en-US" sz="3200" dirty="0">
                <a:latin typeface="Calibri" panose="020F0502020204030204" pitchFamily="34" charset="0"/>
                <a:cs typeface="Calibri" panose="020F0502020204030204" pitchFamily="34" charset="0"/>
              </a:rPr>
              <a:t>, open-source package </a:t>
            </a:r>
          </a:p>
        </p:txBody>
      </p:sp>
      <p:sp>
        <p:nvSpPr>
          <p:cNvPr id="15" name="TextBox 14">
            <a:extLst>
              <a:ext uri="{FF2B5EF4-FFF2-40B4-BE49-F238E27FC236}">
                <a16:creationId xmlns:a16="http://schemas.microsoft.com/office/drawing/2014/main" id="{D0D04457-178C-0045-B0CB-DAC450666EF4}"/>
              </a:ext>
            </a:extLst>
          </p:cNvPr>
          <p:cNvSpPr txBox="1"/>
          <p:nvPr/>
        </p:nvSpPr>
        <p:spPr>
          <a:xfrm>
            <a:off x="4338084" y="3429000"/>
            <a:ext cx="7373270" cy="754630"/>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en-US" sz="3200" dirty="0">
                <a:latin typeface="Calibri" panose="020F0502020204030204" pitchFamily="34" charset="0"/>
                <a:cs typeface="Calibri" panose="020F0502020204030204" pitchFamily="34" charset="0"/>
              </a:rPr>
              <a:t>Runs experiments in Python</a:t>
            </a:r>
          </a:p>
        </p:txBody>
      </p:sp>
      <p:sp>
        <p:nvSpPr>
          <p:cNvPr id="16" name="TextBox 15">
            <a:extLst>
              <a:ext uri="{FF2B5EF4-FFF2-40B4-BE49-F238E27FC236}">
                <a16:creationId xmlns:a16="http://schemas.microsoft.com/office/drawing/2014/main" id="{A04FD82F-3512-AA59-C540-0D66D3A334D6}"/>
              </a:ext>
            </a:extLst>
          </p:cNvPr>
          <p:cNvSpPr txBox="1"/>
          <p:nvPr/>
        </p:nvSpPr>
        <p:spPr>
          <a:xfrm>
            <a:off x="4338084" y="4386363"/>
            <a:ext cx="7039162" cy="1077218"/>
          </a:xfrm>
          <a:prstGeom prst="rect">
            <a:avLst/>
          </a:prstGeom>
          <a:noFill/>
        </p:spPr>
        <p:txBody>
          <a:bodyPr wrap="square" rtlCol="0">
            <a:spAutoFit/>
          </a:bodyPr>
          <a:lstStyle/>
          <a:p>
            <a:pPr marL="503238" indent="-487363">
              <a:buFont typeface="Arial" panose="020B0604020202020204" pitchFamily="34" charset="0"/>
              <a:buChar char="•"/>
            </a:pPr>
            <a:r>
              <a:rPr lang="en-CA" sz="3200" dirty="0">
                <a:latin typeface="Calibri" panose="020F0502020204030204" pitchFamily="34" charset="0"/>
                <a:cs typeface="Calibri" panose="020F0502020204030204" pitchFamily="34" charset="0"/>
              </a:rPr>
              <a:t>C</a:t>
            </a:r>
            <a:r>
              <a:rPr lang="en-CA" sz="3200" b="0" i="0" dirty="0">
                <a:effectLst/>
                <a:latin typeface="Calibri" panose="020F0502020204030204" pitchFamily="34" charset="0"/>
                <a:cs typeface="Calibri" panose="020F0502020204030204" pitchFamily="34" charset="0"/>
              </a:rPr>
              <a:t>ommunity project</a:t>
            </a:r>
            <a:r>
              <a:rPr lang="en-US" sz="3200" b="0" i="0" dirty="0">
                <a:effectLst/>
                <a:latin typeface="Calibri" panose="020F0502020204030204" pitchFamily="34" charset="0"/>
                <a:cs typeface="Calibri" panose="020F0502020204030204" pitchFamily="34" charset="0"/>
              </a:rPr>
              <a:t> -</a:t>
            </a:r>
            <a:r>
              <a:rPr lang="en-US" sz="3200" dirty="0">
                <a:latin typeface="Calibri" panose="020F0502020204030204" pitchFamily="34" charset="0"/>
                <a:cs typeface="Calibri" panose="020F0502020204030204" pitchFamily="34" charset="0"/>
              </a:rPr>
              <a:t> made for users, by users</a:t>
            </a:r>
          </a:p>
        </p:txBody>
      </p:sp>
    </p:spTree>
    <p:extLst>
      <p:ext uri="{BB962C8B-B14F-4D97-AF65-F5344CB8AC3E}">
        <p14:creationId xmlns:p14="http://schemas.microsoft.com/office/powerpoint/2010/main" val="196695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additive="base">
                                        <p:cTn id="17" dur="500"/>
                                        <p:tgtEl>
                                          <p:spTgt spid="14"/>
                                        </p:tgtEl>
                                        <p:attrNameLst>
                                          <p:attrName>ppt_y</p:attrName>
                                        </p:attrNameLst>
                                      </p:cBhvr>
                                      <p:tavLst>
                                        <p:tav tm="0">
                                          <p:val>
                                            <p:strVal val="#ppt_y+#ppt_h*1.125000"/>
                                          </p:val>
                                        </p:tav>
                                        <p:tav tm="100000">
                                          <p:val>
                                            <p:strVal val="#ppt_y"/>
                                          </p:val>
                                        </p:tav>
                                      </p:tavLst>
                                    </p:anim>
                                    <p:animEffect transition="in" filter="wipe(up)">
                                      <p:cBhvr>
                                        <p:cTn id="18" dur="500"/>
                                        <p:tgtEl>
                                          <p:spTgt spid="14"/>
                                        </p:tgtEl>
                                      </p:cBhvr>
                                    </p:animEffect>
                                  </p:childTnLst>
                                </p:cTn>
                              </p:par>
                            </p:childTnLst>
                          </p:cTn>
                        </p:par>
                      </p:childTnLst>
                    </p:cTn>
                  </p:par>
                  <p:par>
                    <p:cTn id="19" fill="hold">
                      <p:stCondLst>
                        <p:cond delay="indefinite"/>
                      </p:stCondLst>
                      <p:childTnLst>
                        <p:par>
                          <p:cTn id="20" fill="hold">
                            <p:stCondLst>
                              <p:cond delay="0"/>
                            </p:stCondLst>
                            <p:childTnLst>
                              <p:par>
                                <p:cTn id="21" presetID="12" presetClass="entr" presetSubtype="4"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anim calcmode="lin" valueType="num">
                                      <p:cBhvr additive="base">
                                        <p:cTn id="23" dur="500"/>
                                        <p:tgtEl>
                                          <p:spTgt spid="15"/>
                                        </p:tgtEl>
                                        <p:attrNameLst>
                                          <p:attrName>ppt_y</p:attrName>
                                        </p:attrNameLst>
                                      </p:cBhvr>
                                      <p:tavLst>
                                        <p:tav tm="0">
                                          <p:val>
                                            <p:strVal val="#ppt_y+#ppt_h*1.125000"/>
                                          </p:val>
                                        </p:tav>
                                        <p:tav tm="100000">
                                          <p:val>
                                            <p:strVal val="#ppt_y"/>
                                          </p:val>
                                        </p:tav>
                                      </p:tavLst>
                                    </p:anim>
                                    <p:animEffect transition="in" filter="wipe(up)">
                                      <p:cBhvr>
                                        <p:cTn id="24" dur="500"/>
                                        <p:tgtEl>
                                          <p:spTgt spid="15"/>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anim calcmode="lin" valueType="num">
                                      <p:cBhvr additive="base">
                                        <p:cTn id="29" dur="500"/>
                                        <p:tgtEl>
                                          <p:spTgt spid="16"/>
                                        </p:tgtEl>
                                        <p:attrNameLst>
                                          <p:attrName>ppt_y</p:attrName>
                                        </p:attrNameLst>
                                      </p:cBhvr>
                                      <p:tavLst>
                                        <p:tav tm="0">
                                          <p:val>
                                            <p:strVal val="#ppt_y+#ppt_h*1.125000"/>
                                          </p:val>
                                        </p:tav>
                                        <p:tav tm="100000">
                                          <p:val>
                                            <p:strVal val="#ppt_y"/>
                                          </p:val>
                                        </p:tav>
                                      </p:tavLst>
                                    </p:anim>
                                    <p:animEffect transition="in" filter="wipe(up)">
                                      <p:cBhvr>
                                        <p:cTn id="30"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4" grpId="0"/>
      <p:bldP spid="15" grpId="0"/>
      <p:bldP spid="1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 name="Rectangle 13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148" name="Picture 4" descr="164,966 BEST Stacked Blocks IMAGES, STOCK PHOTOS &amp;amp; VECTORS | Adobe Stock">
            <a:extLst>
              <a:ext uri="{FF2B5EF4-FFF2-40B4-BE49-F238E27FC236}">
                <a16:creationId xmlns:a16="http://schemas.microsoft.com/office/drawing/2014/main" id="{3513E8EF-9D54-6E4A-AFCA-C83426DE72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63"/>
          <a:stretch/>
        </p:blipFill>
        <p:spPr bwMode="auto">
          <a:xfrm>
            <a:off x="0" y="127426"/>
            <a:ext cx="8312698" cy="673057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164,966 BEST Stacked Blocks IMAGES, STOCK PHOTOS &amp;amp; VECTORS | Adobe Stock">
            <a:extLst>
              <a:ext uri="{FF2B5EF4-FFF2-40B4-BE49-F238E27FC236}">
                <a16:creationId xmlns:a16="http://schemas.microsoft.com/office/drawing/2014/main" id="{FC30A533-E5C7-BD45-8E21-E06A1AD588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296" r="1"/>
          <a:stretch/>
        </p:blipFill>
        <p:spPr bwMode="auto">
          <a:xfrm>
            <a:off x="7080699" y="127426"/>
            <a:ext cx="5119116" cy="673057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7DFCFEF-87E3-2449-9F65-9C920C2481F9}"/>
              </a:ext>
            </a:extLst>
          </p:cNvPr>
          <p:cNvSpPr txBox="1"/>
          <p:nvPr/>
        </p:nvSpPr>
        <p:spPr>
          <a:xfrm>
            <a:off x="0" y="127425"/>
            <a:ext cx="4338084" cy="646331"/>
          </a:xfrm>
          <a:prstGeom prst="rect">
            <a:avLst/>
          </a:prstGeom>
          <a:solidFill>
            <a:srgbClr val="D55953"/>
          </a:solidFill>
        </p:spPr>
        <p:txBody>
          <a:bodyPr wrap="square" rtlCol="0">
            <a:spAutoFit/>
          </a:bodyPr>
          <a:lstStyle/>
          <a:p>
            <a:pPr algn="ctr"/>
            <a:r>
              <a:rPr lang="en-US" sz="3600" dirty="0">
                <a:solidFill>
                  <a:schemeClr val="bg1"/>
                </a:solidFill>
              </a:rPr>
              <a:t>BUILD EXPERIMENT</a:t>
            </a:r>
          </a:p>
        </p:txBody>
      </p:sp>
      <p:pic>
        <p:nvPicPr>
          <p:cNvPr id="4098" name="Picture 2">
            <a:extLst>
              <a:ext uri="{FF2B5EF4-FFF2-40B4-BE49-F238E27FC236}">
                <a16:creationId xmlns:a16="http://schemas.microsoft.com/office/drawing/2014/main" id="{E5ED665B-F33C-BE76-C351-48E948712E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3139" y="3040124"/>
            <a:ext cx="4990710" cy="3343093"/>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Getting Started — PsychoPy v2022.2.4">
            <a:extLst>
              <a:ext uri="{FF2B5EF4-FFF2-40B4-BE49-F238E27FC236}">
                <a16:creationId xmlns:a16="http://schemas.microsoft.com/office/drawing/2014/main" id="{8B6B2832-2232-1477-57D7-6AA7315123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14278" y="3040125"/>
            <a:ext cx="3294339" cy="3343092"/>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97CA3C7-44E5-1A5D-7BF1-CFAFF99AEE1C}"/>
              </a:ext>
            </a:extLst>
          </p:cNvPr>
          <p:cNvSpPr txBox="1"/>
          <p:nvPr/>
        </p:nvSpPr>
        <p:spPr>
          <a:xfrm>
            <a:off x="3500563" y="2565341"/>
            <a:ext cx="3815861" cy="523220"/>
          </a:xfrm>
          <a:prstGeom prst="rect">
            <a:avLst/>
          </a:prstGeom>
          <a:noFill/>
        </p:spPr>
        <p:txBody>
          <a:bodyPr wrap="square" rtlCol="0">
            <a:spAutoFit/>
          </a:bodyPr>
          <a:lstStyle/>
          <a:p>
            <a:pPr algn="ctr"/>
            <a:r>
              <a:rPr lang="en-US" sz="2800" dirty="0"/>
              <a:t>BUILDER</a:t>
            </a:r>
          </a:p>
        </p:txBody>
      </p:sp>
      <p:sp>
        <p:nvSpPr>
          <p:cNvPr id="3" name="TextBox 2">
            <a:extLst>
              <a:ext uri="{FF2B5EF4-FFF2-40B4-BE49-F238E27FC236}">
                <a16:creationId xmlns:a16="http://schemas.microsoft.com/office/drawing/2014/main" id="{4FA683BA-827C-3C24-A687-AEF62D4315DA}"/>
              </a:ext>
            </a:extLst>
          </p:cNvPr>
          <p:cNvSpPr txBox="1"/>
          <p:nvPr/>
        </p:nvSpPr>
        <p:spPr>
          <a:xfrm>
            <a:off x="8069158" y="2441240"/>
            <a:ext cx="3815861" cy="523220"/>
          </a:xfrm>
          <a:prstGeom prst="rect">
            <a:avLst/>
          </a:prstGeom>
          <a:noFill/>
        </p:spPr>
        <p:txBody>
          <a:bodyPr wrap="square" rtlCol="0">
            <a:spAutoFit/>
          </a:bodyPr>
          <a:lstStyle/>
          <a:p>
            <a:pPr algn="ctr"/>
            <a:r>
              <a:rPr lang="en-US" sz="2800" dirty="0"/>
              <a:t>CODER</a:t>
            </a:r>
          </a:p>
        </p:txBody>
      </p:sp>
      <p:sp>
        <p:nvSpPr>
          <p:cNvPr id="10" name="TextBox 9">
            <a:extLst>
              <a:ext uri="{FF2B5EF4-FFF2-40B4-BE49-F238E27FC236}">
                <a16:creationId xmlns:a16="http://schemas.microsoft.com/office/drawing/2014/main" id="{7B950A88-D331-C46F-4C4A-821E88341395}"/>
              </a:ext>
            </a:extLst>
          </p:cNvPr>
          <p:cNvSpPr txBox="1"/>
          <p:nvPr/>
        </p:nvSpPr>
        <p:spPr>
          <a:xfrm>
            <a:off x="4794391" y="2248735"/>
            <a:ext cx="1466796" cy="369332"/>
          </a:xfrm>
          <a:prstGeom prst="rect">
            <a:avLst/>
          </a:prstGeom>
          <a:noFill/>
        </p:spPr>
        <p:txBody>
          <a:bodyPr wrap="square" rtlCol="0">
            <a:spAutoFit/>
          </a:bodyPr>
          <a:lstStyle/>
          <a:p>
            <a:r>
              <a:rPr lang="en-US" dirty="0">
                <a:solidFill>
                  <a:srgbClr val="FF0000"/>
                </a:solidFill>
                <a:latin typeface="Lucida Handwriting" panose="03010101010101010101" pitchFamily="66" charset="77"/>
              </a:rPr>
              <a:t>Online!</a:t>
            </a:r>
          </a:p>
        </p:txBody>
      </p:sp>
      <p:pic>
        <p:nvPicPr>
          <p:cNvPr id="4" name="Picture 4" descr="Home — PsychoPy v3.0">
            <a:extLst>
              <a:ext uri="{FF2B5EF4-FFF2-40B4-BE49-F238E27FC236}">
                <a16:creationId xmlns:a16="http://schemas.microsoft.com/office/drawing/2014/main" id="{A79C9FB4-26C7-36D2-0E1E-DC327A4B58A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472"/>
          <a:stretch/>
        </p:blipFill>
        <p:spPr bwMode="auto">
          <a:xfrm>
            <a:off x="5544410" y="295400"/>
            <a:ext cx="4338085" cy="170815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F485A440-4B41-9B75-96EF-A7B47289D422}"/>
              </a:ext>
            </a:extLst>
          </p:cNvPr>
          <p:cNvSpPr/>
          <p:nvPr/>
        </p:nvSpPr>
        <p:spPr>
          <a:xfrm>
            <a:off x="2474275" y="2044099"/>
            <a:ext cx="5838423" cy="4686475"/>
          </a:xfrm>
          <a:custGeom>
            <a:avLst/>
            <a:gdLst>
              <a:gd name="connsiteX0" fmla="*/ 0 w 5838423"/>
              <a:gd name="connsiteY0" fmla="*/ 0 h 4686475"/>
              <a:gd name="connsiteX1" fmla="*/ 525458 w 5838423"/>
              <a:gd name="connsiteY1" fmla="*/ 0 h 4686475"/>
              <a:gd name="connsiteX2" fmla="*/ 934148 w 5838423"/>
              <a:gd name="connsiteY2" fmla="*/ 0 h 4686475"/>
              <a:gd name="connsiteX3" fmla="*/ 1634758 w 5838423"/>
              <a:gd name="connsiteY3" fmla="*/ 0 h 4686475"/>
              <a:gd name="connsiteX4" fmla="*/ 2160217 w 5838423"/>
              <a:gd name="connsiteY4" fmla="*/ 0 h 4686475"/>
              <a:gd name="connsiteX5" fmla="*/ 2685675 w 5838423"/>
              <a:gd name="connsiteY5" fmla="*/ 0 h 4686475"/>
              <a:gd name="connsiteX6" fmla="*/ 3386285 w 5838423"/>
              <a:gd name="connsiteY6" fmla="*/ 0 h 4686475"/>
              <a:gd name="connsiteX7" fmla="*/ 3853359 w 5838423"/>
              <a:gd name="connsiteY7" fmla="*/ 0 h 4686475"/>
              <a:gd name="connsiteX8" fmla="*/ 4553970 w 5838423"/>
              <a:gd name="connsiteY8" fmla="*/ 0 h 4686475"/>
              <a:gd name="connsiteX9" fmla="*/ 5254581 w 5838423"/>
              <a:gd name="connsiteY9" fmla="*/ 0 h 4686475"/>
              <a:gd name="connsiteX10" fmla="*/ 5838423 w 5838423"/>
              <a:gd name="connsiteY10" fmla="*/ 0 h 4686475"/>
              <a:gd name="connsiteX11" fmla="*/ 5838423 w 5838423"/>
              <a:gd name="connsiteY11" fmla="*/ 679539 h 4686475"/>
              <a:gd name="connsiteX12" fmla="*/ 5838423 w 5838423"/>
              <a:gd name="connsiteY12" fmla="*/ 1312213 h 4686475"/>
              <a:gd name="connsiteX13" fmla="*/ 5838423 w 5838423"/>
              <a:gd name="connsiteY13" fmla="*/ 1757428 h 4686475"/>
              <a:gd name="connsiteX14" fmla="*/ 5838423 w 5838423"/>
              <a:gd name="connsiteY14" fmla="*/ 2343238 h 4686475"/>
              <a:gd name="connsiteX15" fmla="*/ 5838423 w 5838423"/>
              <a:gd name="connsiteY15" fmla="*/ 2929047 h 4686475"/>
              <a:gd name="connsiteX16" fmla="*/ 5838423 w 5838423"/>
              <a:gd name="connsiteY16" fmla="*/ 3514856 h 4686475"/>
              <a:gd name="connsiteX17" fmla="*/ 5838423 w 5838423"/>
              <a:gd name="connsiteY17" fmla="*/ 4147530 h 4686475"/>
              <a:gd name="connsiteX18" fmla="*/ 5838423 w 5838423"/>
              <a:gd name="connsiteY18" fmla="*/ 4686475 h 4686475"/>
              <a:gd name="connsiteX19" fmla="*/ 5196196 w 5838423"/>
              <a:gd name="connsiteY19" fmla="*/ 4686475 h 4686475"/>
              <a:gd name="connsiteX20" fmla="*/ 4729123 w 5838423"/>
              <a:gd name="connsiteY20" fmla="*/ 4686475 h 4686475"/>
              <a:gd name="connsiteX21" fmla="*/ 4028512 w 5838423"/>
              <a:gd name="connsiteY21" fmla="*/ 4686475 h 4686475"/>
              <a:gd name="connsiteX22" fmla="*/ 3444670 w 5838423"/>
              <a:gd name="connsiteY22" fmla="*/ 4686475 h 4686475"/>
              <a:gd name="connsiteX23" fmla="*/ 2977596 w 5838423"/>
              <a:gd name="connsiteY23" fmla="*/ 4686475 h 4686475"/>
              <a:gd name="connsiteX24" fmla="*/ 2393753 w 5838423"/>
              <a:gd name="connsiteY24" fmla="*/ 4686475 h 4686475"/>
              <a:gd name="connsiteX25" fmla="*/ 1985064 w 5838423"/>
              <a:gd name="connsiteY25" fmla="*/ 4686475 h 4686475"/>
              <a:gd name="connsiteX26" fmla="*/ 1576374 w 5838423"/>
              <a:gd name="connsiteY26" fmla="*/ 4686475 h 4686475"/>
              <a:gd name="connsiteX27" fmla="*/ 992532 w 5838423"/>
              <a:gd name="connsiteY27" fmla="*/ 4686475 h 4686475"/>
              <a:gd name="connsiteX28" fmla="*/ 525458 w 5838423"/>
              <a:gd name="connsiteY28" fmla="*/ 4686475 h 4686475"/>
              <a:gd name="connsiteX29" fmla="*/ 0 w 5838423"/>
              <a:gd name="connsiteY29" fmla="*/ 4686475 h 4686475"/>
              <a:gd name="connsiteX30" fmla="*/ 0 w 5838423"/>
              <a:gd name="connsiteY30" fmla="*/ 4194395 h 4686475"/>
              <a:gd name="connsiteX31" fmla="*/ 0 w 5838423"/>
              <a:gd name="connsiteY31" fmla="*/ 3749180 h 4686475"/>
              <a:gd name="connsiteX32" fmla="*/ 0 w 5838423"/>
              <a:gd name="connsiteY32" fmla="*/ 3116506 h 4686475"/>
              <a:gd name="connsiteX33" fmla="*/ 0 w 5838423"/>
              <a:gd name="connsiteY33" fmla="*/ 2624426 h 4686475"/>
              <a:gd name="connsiteX34" fmla="*/ 0 w 5838423"/>
              <a:gd name="connsiteY34" fmla="*/ 1991752 h 4686475"/>
              <a:gd name="connsiteX35" fmla="*/ 0 w 5838423"/>
              <a:gd name="connsiteY35" fmla="*/ 1312213 h 4686475"/>
              <a:gd name="connsiteX36" fmla="*/ 0 w 5838423"/>
              <a:gd name="connsiteY36" fmla="*/ 773268 h 4686475"/>
              <a:gd name="connsiteX37" fmla="*/ 0 w 5838423"/>
              <a:gd name="connsiteY37" fmla="*/ 0 h 4686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838423" h="4686475" extrusionOk="0">
                <a:moveTo>
                  <a:pt x="0" y="0"/>
                </a:moveTo>
                <a:cubicBezTo>
                  <a:pt x="145801" y="-21845"/>
                  <a:pt x="292927" y="27029"/>
                  <a:pt x="525458" y="0"/>
                </a:cubicBezTo>
                <a:cubicBezTo>
                  <a:pt x="757989" y="-27029"/>
                  <a:pt x="788898" y="33935"/>
                  <a:pt x="934148" y="0"/>
                </a:cubicBezTo>
                <a:cubicBezTo>
                  <a:pt x="1079398" y="-33935"/>
                  <a:pt x="1439965" y="532"/>
                  <a:pt x="1634758" y="0"/>
                </a:cubicBezTo>
                <a:cubicBezTo>
                  <a:pt x="1829551" y="-532"/>
                  <a:pt x="1964848" y="33504"/>
                  <a:pt x="2160217" y="0"/>
                </a:cubicBezTo>
                <a:cubicBezTo>
                  <a:pt x="2355586" y="-33504"/>
                  <a:pt x="2461272" y="17024"/>
                  <a:pt x="2685675" y="0"/>
                </a:cubicBezTo>
                <a:cubicBezTo>
                  <a:pt x="2910078" y="-17024"/>
                  <a:pt x="3057700" y="42294"/>
                  <a:pt x="3386285" y="0"/>
                </a:cubicBezTo>
                <a:cubicBezTo>
                  <a:pt x="3714870" y="-42294"/>
                  <a:pt x="3724972" y="53496"/>
                  <a:pt x="3853359" y="0"/>
                </a:cubicBezTo>
                <a:cubicBezTo>
                  <a:pt x="3981746" y="-53496"/>
                  <a:pt x="4243948" y="33750"/>
                  <a:pt x="4553970" y="0"/>
                </a:cubicBezTo>
                <a:cubicBezTo>
                  <a:pt x="4863992" y="-33750"/>
                  <a:pt x="4906287" y="72264"/>
                  <a:pt x="5254581" y="0"/>
                </a:cubicBezTo>
                <a:cubicBezTo>
                  <a:pt x="5602875" y="-72264"/>
                  <a:pt x="5591632" y="24793"/>
                  <a:pt x="5838423" y="0"/>
                </a:cubicBezTo>
                <a:cubicBezTo>
                  <a:pt x="5911307" y="241416"/>
                  <a:pt x="5789529" y="390517"/>
                  <a:pt x="5838423" y="679539"/>
                </a:cubicBezTo>
                <a:cubicBezTo>
                  <a:pt x="5887317" y="968561"/>
                  <a:pt x="5830829" y="1182443"/>
                  <a:pt x="5838423" y="1312213"/>
                </a:cubicBezTo>
                <a:cubicBezTo>
                  <a:pt x="5846017" y="1441983"/>
                  <a:pt x="5801918" y="1623460"/>
                  <a:pt x="5838423" y="1757428"/>
                </a:cubicBezTo>
                <a:cubicBezTo>
                  <a:pt x="5874928" y="1891397"/>
                  <a:pt x="5793899" y="2064945"/>
                  <a:pt x="5838423" y="2343238"/>
                </a:cubicBezTo>
                <a:cubicBezTo>
                  <a:pt x="5882947" y="2621531"/>
                  <a:pt x="5796965" y="2641797"/>
                  <a:pt x="5838423" y="2929047"/>
                </a:cubicBezTo>
                <a:cubicBezTo>
                  <a:pt x="5879881" y="3216297"/>
                  <a:pt x="5787904" y="3228605"/>
                  <a:pt x="5838423" y="3514856"/>
                </a:cubicBezTo>
                <a:cubicBezTo>
                  <a:pt x="5888942" y="3801107"/>
                  <a:pt x="5799058" y="3934529"/>
                  <a:pt x="5838423" y="4147530"/>
                </a:cubicBezTo>
                <a:cubicBezTo>
                  <a:pt x="5877788" y="4360531"/>
                  <a:pt x="5815019" y="4496165"/>
                  <a:pt x="5838423" y="4686475"/>
                </a:cubicBezTo>
                <a:cubicBezTo>
                  <a:pt x="5657528" y="4742686"/>
                  <a:pt x="5455755" y="4618368"/>
                  <a:pt x="5196196" y="4686475"/>
                </a:cubicBezTo>
                <a:cubicBezTo>
                  <a:pt x="4936637" y="4754582"/>
                  <a:pt x="4895940" y="4646701"/>
                  <a:pt x="4729123" y="4686475"/>
                </a:cubicBezTo>
                <a:cubicBezTo>
                  <a:pt x="4562306" y="4726249"/>
                  <a:pt x="4212280" y="4661051"/>
                  <a:pt x="4028512" y="4686475"/>
                </a:cubicBezTo>
                <a:cubicBezTo>
                  <a:pt x="3844744" y="4711899"/>
                  <a:pt x="3564157" y="4659382"/>
                  <a:pt x="3444670" y="4686475"/>
                </a:cubicBezTo>
                <a:cubicBezTo>
                  <a:pt x="3325183" y="4713568"/>
                  <a:pt x="3176876" y="4681994"/>
                  <a:pt x="2977596" y="4686475"/>
                </a:cubicBezTo>
                <a:cubicBezTo>
                  <a:pt x="2778316" y="4690956"/>
                  <a:pt x="2628108" y="4647633"/>
                  <a:pt x="2393753" y="4686475"/>
                </a:cubicBezTo>
                <a:cubicBezTo>
                  <a:pt x="2159398" y="4725317"/>
                  <a:pt x="2166534" y="4682823"/>
                  <a:pt x="1985064" y="4686475"/>
                </a:cubicBezTo>
                <a:cubicBezTo>
                  <a:pt x="1803594" y="4690127"/>
                  <a:pt x="1771638" y="4664451"/>
                  <a:pt x="1576374" y="4686475"/>
                </a:cubicBezTo>
                <a:cubicBezTo>
                  <a:pt x="1381110" y="4708499"/>
                  <a:pt x="1275862" y="4629909"/>
                  <a:pt x="992532" y="4686475"/>
                </a:cubicBezTo>
                <a:cubicBezTo>
                  <a:pt x="709202" y="4743041"/>
                  <a:pt x="698978" y="4632737"/>
                  <a:pt x="525458" y="4686475"/>
                </a:cubicBezTo>
                <a:cubicBezTo>
                  <a:pt x="351938" y="4740213"/>
                  <a:pt x="129968" y="4682317"/>
                  <a:pt x="0" y="4686475"/>
                </a:cubicBezTo>
                <a:cubicBezTo>
                  <a:pt x="-31523" y="4484178"/>
                  <a:pt x="4545" y="4323703"/>
                  <a:pt x="0" y="4194395"/>
                </a:cubicBezTo>
                <a:cubicBezTo>
                  <a:pt x="-4545" y="4065087"/>
                  <a:pt x="40999" y="3929182"/>
                  <a:pt x="0" y="3749180"/>
                </a:cubicBezTo>
                <a:cubicBezTo>
                  <a:pt x="-40999" y="3569179"/>
                  <a:pt x="70557" y="3367018"/>
                  <a:pt x="0" y="3116506"/>
                </a:cubicBezTo>
                <a:cubicBezTo>
                  <a:pt x="-70557" y="2865994"/>
                  <a:pt x="9819" y="2857660"/>
                  <a:pt x="0" y="2624426"/>
                </a:cubicBezTo>
                <a:cubicBezTo>
                  <a:pt x="-9819" y="2391192"/>
                  <a:pt x="13632" y="2133655"/>
                  <a:pt x="0" y="1991752"/>
                </a:cubicBezTo>
                <a:cubicBezTo>
                  <a:pt x="-13632" y="1849849"/>
                  <a:pt x="1460" y="1486967"/>
                  <a:pt x="0" y="1312213"/>
                </a:cubicBezTo>
                <a:cubicBezTo>
                  <a:pt x="-1460" y="1137459"/>
                  <a:pt x="61473" y="936398"/>
                  <a:pt x="0" y="773268"/>
                </a:cubicBezTo>
                <a:cubicBezTo>
                  <a:pt x="-61473" y="610139"/>
                  <a:pt x="43690" y="267253"/>
                  <a:pt x="0" y="0"/>
                </a:cubicBezTo>
                <a:close/>
              </a:path>
            </a:pathLst>
          </a:custGeom>
          <a:noFill/>
          <a:ln w="76200">
            <a:solidFill>
              <a:srgbClr val="FFC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2768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dissolve">
                                      <p:cBhvr>
                                        <p:cTn id="7" dur="500"/>
                                        <p:tgtEl>
                                          <p:spTgt spid="409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dissolv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4100"/>
                                        </p:tgtEl>
                                        <p:attrNameLst>
                                          <p:attrName>style.visibility</p:attrName>
                                        </p:attrNameLst>
                                      </p:cBhvr>
                                      <p:to>
                                        <p:strVal val="visible"/>
                                      </p:to>
                                    </p:set>
                                    <p:animEffect transition="in" filter="dissolve">
                                      <p:cBhvr>
                                        <p:cTn id="15" dur="500"/>
                                        <p:tgtEl>
                                          <p:spTgt spid="4100"/>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dissolve">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dissolv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p:tgtEl>
                                          <p:spTgt spid="10"/>
                                        </p:tgtEl>
                                        <p:attrNameLst>
                                          <p:attrName>ppt_y</p:attrName>
                                        </p:attrNameLst>
                                      </p:cBhvr>
                                      <p:tavLst>
                                        <p:tav tm="0">
                                          <p:val>
                                            <p:strVal val="#ppt_y+#ppt_h*1.125000"/>
                                          </p:val>
                                        </p:tav>
                                        <p:tav tm="100000">
                                          <p:val>
                                            <p:strVal val="#ppt_y"/>
                                          </p:val>
                                        </p:tav>
                                      </p:tavLst>
                                    </p:anim>
                                    <p:animEffect transition="in" filter="wipe(up)">
                                      <p:cBhvr>
                                        <p:cTn id="2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0" grpId="0"/>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 name="Rectangle 13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148" name="Picture 4" descr="164,966 BEST Stacked Blocks IMAGES, STOCK PHOTOS &amp;amp; VECTORS | Adobe Stock">
            <a:extLst>
              <a:ext uri="{FF2B5EF4-FFF2-40B4-BE49-F238E27FC236}">
                <a16:creationId xmlns:a16="http://schemas.microsoft.com/office/drawing/2014/main" id="{3513E8EF-9D54-6E4A-AFCA-C83426DE72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63"/>
          <a:stretch/>
        </p:blipFill>
        <p:spPr bwMode="auto">
          <a:xfrm>
            <a:off x="0" y="127426"/>
            <a:ext cx="8312698" cy="6730574"/>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164,966 BEST Stacked Blocks IMAGES, STOCK PHOTOS &amp;amp; VECTORS | Adobe Stock">
            <a:extLst>
              <a:ext uri="{FF2B5EF4-FFF2-40B4-BE49-F238E27FC236}">
                <a16:creationId xmlns:a16="http://schemas.microsoft.com/office/drawing/2014/main" id="{FC30A533-E5C7-BD45-8E21-E06A1AD588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296" r="1"/>
          <a:stretch/>
        </p:blipFill>
        <p:spPr bwMode="auto">
          <a:xfrm>
            <a:off x="7072884" y="127426"/>
            <a:ext cx="5119116" cy="673057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47DFCFEF-87E3-2449-9F65-9C920C2481F9}"/>
              </a:ext>
            </a:extLst>
          </p:cNvPr>
          <p:cNvSpPr txBox="1"/>
          <p:nvPr/>
        </p:nvSpPr>
        <p:spPr>
          <a:xfrm>
            <a:off x="0" y="127425"/>
            <a:ext cx="4338084" cy="646331"/>
          </a:xfrm>
          <a:prstGeom prst="rect">
            <a:avLst/>
          </a:prstGeom>
          <a:solidFill>
            <a:srgbClr val="C00000">
              <a:alpha val="72000"/>
            </a:srgbClr>
          </a:solidFill>
        </p:spPr>
        <p:txBody>
          <a:bodyPr wrap="square" rtlCol="0">
            <a:spAutoFit/>
          </a:bodyPr>
          <a:lstStyle/>
          <a:p>
            <a:pPr algn="ctr"/>
            <a:r>
              <a:rPr lang="en-US" sz="3600" dirty="0">
                <a:solidFill>
                  <a:schemeClr val="bg1"/>
                </a:solidFill>
              </a:rPr>
              <a:t>BUILD EXPERIMENT</a:t>
            </a:r>
          </a:p>
        </p:txBody>
      </p:sp>
      <p:pic>
        <p:nvPicPr>
          <p:cNvPr id="20" name="Picture 8" descr="Excel: Getting Started with Excel">
            <a:extLst>
              <a:ext uri="{FF2B5EF4-FFF2-40B4-BE49-F238E27FC236}">
                <a16:creationId xmlns:a16="http://schemas.microsoft.com/office/drawing/2014/main" id="{AEBD51DE-9000-1E4E-9B9F-31E2E364D7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4026" y="3037196"/>
            <a:ext cx="3660840" cy="307082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C957054-CC96-5C4E-8A1E-BCAE2C08ADBA}"/>
              </a:ext>
            </a:extLst>
          </p:cNvPr>
          <p:cNvSpPr txBox="1"/>
          <p:nvPr/>
        </p:nvSpPr>
        <p:spPr>
          <a:xfrm>
            <a:off x="3789839" y="2409642"/>
            <a:ext cx="1637412" cy="646331"/>
          </a:xfrm>
          <a:prstGeom prst="rect">
            <a:avLst/>
          </a:prstGeom>
          <a:noFill/>
        </p:spPr>
        <p:txBody>
          <a:bodyPr wrap="square" rtlCol="0">
            <a:spAutoFit/>
          </a:bodyPr>
          <a:lstStyle/>
          <a:p>
            <a:r>
              <a:rPr lang="en-US" sz="3600" dirty="0"/>
              <a:t>Builder </a:t>
            </a:r>
          </a:p>
        </p:txBody>
      </p:sp>
      <p:sp>
        <p:nvSpPr>
          <p:cNvPr id="25" name="TextBox 24">
            <a:extLst>
              <a:ext uri="{FF2B5EF4-FFF2-40B4-BE49-F238E27FC236}">
                <a16:creationId xmlns:a16="http://schemas.microsoft.com/office/drawing/2014/main" id="{4992E6F3-3F31-AB4B-A652-733B1B6B1750}"/>
              </a:ext>
            </a:extLst>
          </p:cNvPr>
          <p:cNvSpPr txBox="1"/>
          <p:nvPr/>
        </p:nvSpPr>
        <p:spPr>
          <a:xfrm>
            <a:off x="9278275" y="2409642"/>
            <a:ext cx="1248244" cy="664846"/>
          </a:xfrm>
          <a:prstGeom prst="rect">
            <a:avLst/>
          </a:prstGeom>
          <a:noFill/>
        </p:spPr>
        <p:txBody>
          <a:bodyPr wrap="square" rtlCol="0">
            <a:spAutoFit/>
          </a:bodyPr>
          <a:lstStyle/>
          <a:p>
            <a:r>
              <a:rPr lang="en-US" sz="3600" dirty="0"/>
              <a:t>Excel</a:t>
            </a:r>
          </a:p>
        </p:txBody>
      </p:sp>
      <p:sp>
        <p:nvSpPr>
          <p:cNvPr id="8" name="TextBox 7">
            <a:extLst>
              <a:ext uri="{FF2B5EF4-FFF2-40B4-BE49-F238E27FC236}">
                <a16:creationId xmlns:a16="http://schemas.microsoft.com/office/drawing/2014/main" id="{F2AEA489-0DBB-2949-ADBD-426F83EC9EB8}"/>
              </a:ext>
            </a:extLst>
          </p:cNvPr>
          <p:cNvSpPr txBox="1"/>
          <p:nvPr/>
        </p:nvSpPr>
        <p:spPr>
          <a:xfrm>
            <a:off x="7105461" y="3921864"/>
            <a:ext cx="765646" cy="1323439"/>
          </a:xfrm>
          <a:prstGeom prst="rect">
            <a:avLst/>
          </a:prstGeom>
          <a:noFill/>
        </p:spPr>
        <p:txBody>
          <a:bodyPr wrap="square" rtlCol="0">
            <a:spAutoFit/>
          </a:bodyPr>
          <a:lstStyle/>
          <a:p>
            <a:pPr algn="ctr"/>
            <a:r>
              <a:rPr lang="en-US" sz="8000" dirty="0">
                <a:latin typeface="Trebuchet MS" panose="020B0703020202090204" pitchFamily="34" charset="0"/>
              </a:rPr>
              <a:t>+</a:t>
            </a:r>
          </a:p>
        </p:txBody>
      </p:sp>
      <p:sp>
        <p:nvSpPr>
          <p:cNvPr id="9" name="TextBox 8">
            <a:extLst>
              <a:ext uri="{FF2B5EF4-FFF2-40B4-BE49-F238E27FC236}">
                <a16:creationId xmlns:a16="http://schemas.microsoft.com/office/drawing/2014/main" id="{3BF63DF5-E629-7941-A015-10602CE8A114}"/>
              </a:ext>
            </a:extLst>
          </p:cNvPr>
          <p:cNvSpPr txBox="1"/>
          <p:nvPr/>
        </p:nvSpPr>
        <p:spPr>
          <a:xfrm>
            <a:off x="4024126" y="6145670"/>
            <a:ext cx="1094991" cy="523220"/>
          </a:xfrm>
          <a:prstGeom prst="rect">
            <a:avLst/>
          </a:prstGeom>
          <a:noFill/>
        </p:spPr>
        <p:txBody>
          <a:bodyPr wrap="square" rtlCol="0">
            <a:spAutoFit/>
          </a:bodyPr>
          <a:lstStyle/>
          <a:p>
            <a:pPr algn="ctr"/>
            <a:r>
              <a:rPr lang="en-US" sz="2800" dirty="0"/>
              <a:t>LOGIC</a:t>
            </a:r>
          </a:p>
        </p:txBody>
      </p:sp>
      <p:sp>
        <p:nvSpPr>
          <p:cNvPr id="29" name="TextBox 28">
            <a:extLst>
              <a:ext uri="{FF2B5EF4-FFF2-40B4-BE49-F238E27FC236}">
                <a16:creationId xmlns:a16="http://schemas.microsoft.com/office/drawing/2014/main" id="{3327E69D-C7BC-D245-9AF9-59AC0402C34C}"/>
              </a:ext>
            </a:extLst>
          </p:cNvPr>
          <p:cNvSpPr txBox="1"/>
          <p:nvPr/>
        </p:nvSpPr>
        <p:spPr>
          <a:xfrm>
            <a:off x="8854900" y="6121932"/>
            <a:ext cx="2094995" cy="523220"/>
          </a:xfrm>
          <a:prstGeom prst="rect">
            <a:avLst/>
          </a:prstGeom>
          <a:noFill/>
        </p:spPr>
        <p:txBody>
          <a:bodyPr wrap="square" rtlCol="0">
            <a:spAutoFit/>
          </a:bodyPr>
          <a:lstStyle/>
          <a:p>
            <a:pPr algn="ctr"/>
            <a:r>
              <a:rPr lang="en-US" sz="2800" dirty="0"/>
              <a:t>CONDITION</a:t>
            </a:r>
          </a:p>
        </p:txBody>
      </p:sp>
      <p:sp>
        <p:nvSpPr>
          <p:cNvPr id="4" name="TextBox 3">
            <a:extLst>
              <a:ext uri="{FF2B5EF4-FFF2-40B4-BE49-F238E27FC236}">
                <a16:creationId xmlns:a16="http://schemas.microsoft.com/office/drawing/2014/main" id="{B559A66B-9BAA-4E20-B415-94E11548F57B}"/>
              </a:ext>
            </a:extLst>
          </p:cNvPr>
          <p:cNvSpPr txBox="1"/>
          <p:nvPr/>
        </p:nvSpPr>
        <p:spPr>
          <a:xfrm>
            <a:off x="8996236" y="293166"/>
            <a:ext cx="2715774" cy="769441"/>
          </a:xfrm>
          <a:prstGeom prst="rect">
            <a:avLst/>
          </a:prstGeom>
          <a:noFill/>
        </p:spPr>
        <p:txBody>
          <a:bodyPr wrap="square" rtlCol="0">
            <a:spAutoFit/>
          </a:bodyPr>
          <a:lstStyle/>
          <a:p>
            <a:r>
              <a:rPr lang="en-US" sz="4400" dirty="0">
                <a:solidFill>
                  <a:schemeClr val="accent1">
                    <a:lumMod val="50000"/>
                  </a:schemeClr>
                </a:solidFill>
                <a:latin typeface="Lucida Handwriting" panose="03010101010101010101" pitchFamily="66" charset="77"/>
              </a:rPr>
              <a:t>Builder</a:t>
            </a:r>
          </a:p>
        </p:txBody>
      </p:sp>
      <p:pic>
        <p:nvPicPr>
          <p:cNvPr id="11" name="Picture 2">
            <a:extLst>
              <a:ext uri="{FF2B5EF4-FFF2-40B4-BE49-F238E27FC236}">
                <a16:creationId xmlns:a16="http://schemas.microsoft.com/office/drawing/2014/main" id="{3407B2D9-5954-4C32-96C2-C9D4D3E254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7554" y="3048790"/>
            <a:ext cx="4582411" cy="306958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Home — PsychoPy v3.0">
            <a:extLst>
              <a:ext uri="{FF2B5EF4-FFF2-40B4-BE49-F238E27FC236}">
                <a16:creationId xmlns:a16="http://schemas.microsoft.com/office/drawing/2014/main" id="{D47D5A80-AA47-2303-19B6-F2E57966B85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472"/>
          <a:stretch/>
        </p:blipFill>
        <p:spPr bwMode="auto">
          <a:xfrm>
            <a:off x="4678759" y="189110"/>
            <a:ext cx="4338085" cy="1708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76560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dissolve">
                                      <p:cBhvr>
                                        <p:cTn id="13" dur="500"/>
                                        <p:tgtEl>
                                          <p:spTgt spid="11"/>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dissolv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animEffect transition="in" filter="fade">
                                      <p:cBhvr>
                                        <p:cTn id="29" dur="500"/>
                                        <p:tgtEl>
                                          <p:spTgt spid="25"/>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dissolve">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dissolve">
                                      <p:cBhvr>
                                        <p:cTn id="3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5" grpId="0"/>
      <p:bldP spid="8" grpId="0"/>
      <p:bldP spid="9" grpId="0"/>
      <p:bldP spid="29"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alpha val="86533"/>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1FCEC00-AD0D-664C-AAD3-F0E489CD940E}"/>
              </a:ext>
            </a:extLst>
          </p:cNvPr>
          <p:cNvGrpSpPr/>
          <p:nvPr/>
        </p:nvGrpSpPr>
        <p:grpSpPr>
          <a:xfrm>
            <a:off x="1524" y="127426"/>
            <a:ext cx="12190476" cy="6730574"/>
            <a:chOff x="0" y="127426"/>
            <a:chExt cx="12190476" cy="6730574"/>
          </a:xfrm>
          <a:pattFill prst="dkDnDiag">
            <a:fgClr>
              <a:srgbClr val="AB7942"/>
            </a:fgClr>
            <a:bgClr>
              <a:schemeClr val="bg1"/>
            </a:bgClr>
          </a:pattFill>
        </p:grpSpPr>
        <p:pic>
          <p:nvPicPr>
            <p:cNvPr id="6" name="Picture 4" descr="164,966 BEST Stacked Blocks IMAGES, STOCK PHOTOS &amp;amp; VECTORS | Adobe Stock">
              <a:extLst>
                <a:ext uri="{FF2B5EF4-FFF2-40B4-BE49-F238E27FC236}">
                  <a16:creationId xmlns:a16="http://schemas.microsoft.com/office/drawing/2014/main" id="{FC30A533-E5C7-BD45-8E21-E06A1AD588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296" r="1"/>
            <a:stretch/>
          </p:blipFill>
          <p:spPr bwMode="auto">
            <a:xfrm>
              <a:off x="7071360" y="127426"/>
              <a:ext cx="5119116" cy="6730574"/>
            </a:xfrm>
            <a:prstGeom prst="rect">
              <a:avLst/>
            </a:prstGeom>
            <a:grpFill/>
          </p:spPr>
        </p:pic>
        <p:pic>
          <p:nvPicPr>
            <p:cNvPr id="6148" name="Picture 4" descr="164,966 BEST Stacked Blocks IMAGES, STOCK PHOTOS &amp;amp; VECTORS | Adobe Stock">
              <a:extLst>
                <a:ext uri="{FF2B5EF4-FFF2-40B4-BE49-F238E27FC236}">
                  <a16:creationId xmlns:a16="http://schemas.microsoft.com/office/drawing/2014/main" id="{3513E8EF-9D54-6E4A-AFCA-C83426DE72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63"/>
            <a:stretch/>
          </p:blipFill>
          <p:spPr bwMode="auto">
            <a:xfrm>
              <a:off x="0" y="127426"/>
              <a:ext cx="8312698" cy="6730574"/>
            </a:xfrm>
            <a:prstGeom prst="rect">
              <a:avLst/>
            </a:prstGeom>
            <a:grpFill/>
          </p:spPr>
        </p:pic>
      </p:grpSp>
      <p:sp>
        <p:nvSpPr>
          <p:cNvPr id="135" name="Rectangle 13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solidFill>
            <a:schemeClr val="accent3">
              <a:lumMod val="75000"/>
              <a:alpha val="6932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TextBox 6">
            <a:extLst>
              <a:ext uri="{FF2B5EF4-FFF2-40B4-BE49-F238E27FC236}">
                <a16:creationId xmlns:a16="http://schemas.microsoft.com/office/drawing/2014/main" id="{9FCA8444-DEF0-C746-BA5E-AD8A4B9EF50A}"/>
              </a:ext>
            </a:extLst>
          </p:cNvPr>
          <p:cNvSpPr txBox="1"/>
          <p:nvPr/>
        </p:nvSpPr>
        <p:spPr>
          <a:xfrm>
            <a:off x="4513326" y="1289013"/>
            <a:ext cx="5119116" cy="769441"/>
          </a:xfrm>
          <a:prstGeom prst="rect">
            <a:avLst/>
          </a:prstGeom>
          <a:solidFill>
            <a:srgbClr val="AB7942">
              <a:alpha val="38000"/>
            </a:srgbClr>
          </a:solidFill>
        </p:spPr>
        <p:txBody>
          <a:bodyPr wrap="square" rtlCol="0">
            <a:spAutoFit/>
          </a:bodyPr>
          <a:lstStyle/>
          <a:p>
            <a:pPr algn="ctr"/>
            <a:r>
              <a:rPr lang="en-US" sz="4400" dirty="0"/>
              <a:t>GOAL 1</a:t>
            </a:r>
          </a:p>
        </p:txBody>
      </p:sp>
      <p:sp>
        <p:nvSpPr>
          <p:cNvPr id="8" name="TextBox 7">
            <a:extLst>
              <a:ext uri="{FF2B5EF4-FFF2-40B4-BE49-F238E27FC236}">
                <a16:creationId xmlns:a16="http://schemas.microsoft.com/office/drawing/2014/main" id="{E6A87778-369D-AE4D-A695-2242F8F2622C}"/>
              </a:ext>
            </a:extLst>
          </p:cNvPr>
          <p:cNvSpPr txBox="1"/>
          <p:nvPr/>
        </p:nvSpPr>
        <p:spPr>
          <a:xfrm>
            <a:off x="2457451" y="2506887"/>
            <a:ext cx="9547316" cy="830997"/>
          </a:xfrm>
          <a:prstGeom prst="rect">
            <a:avLst/>
          </a:prstGeom>
          <a:solidFill>
            <a:schemeClr val="bg1">
              <a:alpha val="98145"/>
            </a:schemeClr>
          </a:solidFill>
        </p:spPr>
        <p:txBody>
          <a:bodyPr wrap="square" rtlCol="0">
            <a:spAutoFit/>
          </a:bodyPr>
          <a:lstStyle/>
          <a:p>
            <a:pPr algn="ctr"/>
            <a:r>
              <a:rPr lang="en-US" sz="4800" dirty="0"/>
              <a:t>Experiment Creation Demo</a:t>
            </a:r>
          </a:p>
        </p:txBody>
      </p:sp>
    </p:spTree>
    <p:extLst>
      <p:ext uri="{BB962C8B-B14F-4D97-AF65-F5344CB8AC3E}">
        <p14:creationId xmlns:p14="http://schemas.microsoft.com/office/powerpoint/2010/main" val="817490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dissolv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0127A5-2E6B-E54D-850E-129BA868DBFF}"/>
              </a:ext>
            </a:extLst>
          </p:cNvPr>
          <p:cNvSpPr txBox="1"/>
          <p:nvPr/>
        </p:nvSpPr>
        <p:spPr>
          <a:xfrm>
            <a:off x="1946031" y="0"/>
            <a:ext cx="8299938" cy="1076723"/>
          </a:xfrm>
          <a:prstGeom prst="rect">
            <a:avLst/>
          </a:prstGeom>
          <a:solidFill>
            <a:schemeClr val="accent2">
              <a:lumMod val="60000"/>
              <a:lumOff val="40000"/>
            </a:schemeClr>
          </a:solidFill>
        </p:spPr>
        <p:txBody>
          <a:bodyPr vert="horz" lIns="91440" tIns="45720" rIns="91440" bIns="45720" rtlCol="0" anchor="b">
            <a:normAutofit/>
          </a:bodyPr>
          <a:lstStyle/>
          <a:p>
            <a:pPr algn="ctr">
              <a:lnSpc>
                <a:spcPct val="90000"/>
              </a:lnSpc>
              <a:spcBef>
                <a:spcPct val="0"/>
              </a:spcBef>
              <a:spcAft>
                <a:spcPts val="600"/>
              </a:spcAft>
            </a:pPr>
            <a:r>
              <a:rPr lang="en-US" sz="6600" kern="1200" dirty="0">
                <a:solidFill>
                  <a:schemeClr val="bg1"/>
                </a:solidFill>
                <a:latin typeface="+mj-lt"/>
                <a:ea typeface="+mj-ea"/>
                <a:cs typeface="+mj-cs"/>
              </a:rPr>
              <a:t>Posner Cuing Task</a:t>
            </a:r>
          </a:p>
        </p:txBody>
      </p:sp>
      <p:sp>
        <p:nvSpPr>
          <p:cNvPr id="9" name="TextBox 8">
            <a:extLst>
              <a:ext uri="{FF2B5EF4-FFF2-40B4-BE49-F238E27FC236}">
                <a16:creationId xmlns:a16="http://schemas.microsoft.com/office/drawing/2014/main" id="{B620A84C-F189-D8C9-2A62-1994DABE6AA3}"/>
              </a:ext>
            </a:extLst>
          </p:cNvPr>
          <p:cNvSpPr txBox="1"/>
          <p:nvPr/>
        </p:nvSpPr>
        <p:spPr>
          <a:xfrm>
            <a:off x="7526215" y="1573455"/>
            <a:ext cx="4484077" cy="4185761"/>
          </a:xfrm>
          <a:prstGeom prst="rect">
            <a:avLst/>
          </a:prstGeom>
          <a:noFill/>
        </p:spPr>
        <p:txBody>
          <a:bodyPr wrap="square" rtlCol="0">
            <a:spAutoFit/>
          </a:bodyPr>
          <a:lstStyle/>
          <a:p>
            <a:pPr algn="just"/>
            <a:r>
              <a:rPr lang="en-CA" sz="1900" b="0" i="0" dirty="0">
                <a:solidFill>
                  <a:srgbClr val="333333"/>
                </a:solidFill>
                <a:effectLst/>
                <a:latin typeface="Helvetica Neue" panose="02000503000000020004" pitchFamily="2" charset="0"/>
              </a:rPr>
              <a:t>Participants will see a fixation cross in the middle and one box to the right and one box to the left. A cue will appear in one of the two boxes followed by a GO signal in either the same box as the cue (valid) or different place as the cue (invalid). Time duration for each segment is outlined in the picture below. Participants will be asked to decide as quickly and accurately as possible if they see the GO signal on the left box by pressing the S key or the right box by pressing the K key. There will be a total of 20 trials.</a:t>
            </a:r>
            <a:endParaRPr lang="en-US" sz="1900" dirty="0"/>
          </a:p>
        </p:txBody>
      </p:sp>
      <p:pic>
        <p:nvPicPr>
          <p:cNvPr id="3" name="Picture 2" descr="Diagram&#10;&#10;Description automatically generated">
            <a:extLst>
              <a:ext uri="{FF2B5EF4-FFF2-40B4-BE49-F238E27FC236}">
                <a16:creationId xmlns:a16="http://schemas.microsoft.com/office/drawing/2014/main" id="{D285CF9F-0A2B-0931-9A42-23986952E315}"/>
              </a:ext>
            </a:extLst>
          </p:cNvPr>
          <p:cNvPicPr>
            <a:picLocks noChangeAspect="1"/>
          </p:cNvPicPr>
          <p:nvPr/>
        </p:nvPicPr>
        <p:blipFill rotWithShape="1">
          <a:blip r:embed="rId2"/>
          <a:srcRect l="3622" t="3278" r="6078" b="5080"/>
          <a:stretch/>
        </p:blipFill>
        <p:spPr>
          <a:xfrm>
            <a:off x="304800" y="1617048"/>
            <a:ext cx="7083786" cy="4202722"/>
          </a:xfrm>
          <a:prstGeom prst="rect">
            <a:avLst/>
          </a:prstGeom>
        </p:spPr>
      </p:pic>
    </p:spTree>
    <p:extLst>
      <p:ext uri="{BB962C8B-B14F-4D97-AF65-F5344CB8AC3E}">
        <p14:creationId xmlns:p14="http://schemas.microsoft.com/office/powerpoint/2010/main" val="3192493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p:tgtEl>
                                          <p:spTgt spid="2"/>
                                        </p:tgtEl>
                                        <p:attrNameLst>
                                          <p:attrName>ppt_y</p:attrName>
                                        </p:attrNameLst>
                                      </p:cBhvr>
                                      <p:tavLst>
                                        <p:tav tm="0">
                                          <p:val>
                                            <p:strVal val="#ppt_y-#ppt_h*1.125000"/>
                                          </p:val>
                                        </p:tav>
                                        <p:tav tm="100000">
                                          <p:val>
                                            <p:strVal val="#ppt_y"/>
                                          </p:val>
                                        </p:tav>
                                      </p:tavLst>
                                    </p:anim>
                                    <p:animEffect transition="in" filter="wipe(down)">
                                      <p:cBhvr>
                                        <p:cTn id="8" dur="500"/>
                                        <p:tgtEl>
                                          <p:spTgt spid="2"/>
                                        </p:tgtEl>
                                      </p:cBhvr>
                                    </p:animEffec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dissolve">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dissolve">
                                      <p:cBhvr>
                                        <p:cTn id="1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Diagram&#10;&#10;Description automatically generated">
            <a:extLst>
              <a:ext uri="{FF2B5EF4-FFF2-40B4-BE49-F238E27FC236}">
                <a16:creationId xmlns:a16="http://schemas.microsoft.com/office/drawing/2014/main" id="{D167CE8D-1328-FAB3-305E-0FAFAB5FFBDB}"/>
              </a:ext>
            </a:extLst>
          </p:cNvPr>
          <p:cNvPicPr>
            <a:picLocks noChangeAspect="1"/>
          </p:cNvPicPr>
          <p:nvPr/>
        </p:nvPicPr>
        <p:blipFill rotWithShape="1">
          <a:blip r:embed="rId2"/>
          <a:srcRect l="3622" t="3278" r="6078" b="5080"/>
          <a:stretch/>
        </p:blipFill>
        <p:spPr>
          <a:xfrm>
            <a:off x="304800" y="1617048"/>
            <a:ext cx="7083786" cy="4202722"/>
          </a:xfrm>
          <a:prstGeom prst="rect">
            <a:avLst/>
          </a:prstGeom>
        </p:spPr>
      </p:pic>
      <p:sp>
        <p:nvSpPr>
          <p:cNvPr id="2" name="TextBox 1">
            <a:extLst>
              <a:ext uri="{FF2B5EF4-FFF2-40B4-BE49-F238E27FC236}">
                <a16:creationId xmlns:a16="http://schemas.microsoft.com/office/drawing/2014/main" id="{330127A5-2E6B-E54D-850E-129BA868DBFF}"/>
              </a:ext>
            </a:extLst>
          </p:cNvPr>
          <p:cNvSpPr txBox="1"/>
          <p:nvPr/>
        </p:nvSpPr>
        <p:spPr>
          <a:xfrm>
            <a:off x="1946031" y="0"/>
            <a:ext cx="8299938" cy="1076723"/>
          </a:xfrm>
          <a:prstGeom prst="rect">
            <a:avLst/>
          </a:prstGeom>
          <a:solidFill>
            <a:schemeClr val="accent2">
              <a:lumMod val="60000"/>
              <a:lumOff val="40000"/>
            </a:schemeClr>
          </a:solidFill>
        </p:spPr>
        <p:txBody>
          <a:bodyPr vert="horz" lIns="91440" tIns="45720" rIns="91440" bIns="45720" rtlCol="0" anchor="b">
            <a:normAutofit/>
          </a:bodyPr>
          <a:lstStyle/>
          <a:p>
            <a:pPr algn="ctr">
              <a:lnSpc>
                <a:spcPct val="90000"/>
              </a:lnSpc>
              <a:spcBef>
                <a:spcPct val="0"/>
              </a:spcBef>
              <a:spcAft>
                <a:spcPts val="600"/>
              </a:spcAft>
            </a:pPr>
            <a:r>
              <a:rPr lang="en-US" sz="6600" kern="1200" dirty="0">
                <a:solidFill>
                  <a:schemeClr val="bg1"/>
                </a:solidFill>
                <a:latin typeface="+mj-lt"/>
                <a:ea typeface="+mj-ea"/>
                <a:cs typeface="+mj-cs"/>
              </a:rPr>
              <a:t>Posner Cuing Task</a:t>
            </a:r>
          </a:p>
        </p:txBody>
      </p:sp>
      <p:sp>
        <p:nvSpPr>
          <p:cNvPr id="9" name="TextBox 8">
            <a:extLst>
              <a:ext uri="{FF2B5EF4-FFF2-40B4-BE49-F238E27FC236}">
                <a16:creationId xmlns:a16="http://schemas.microsoft.com/office/drawing/2014/main" id="{B620A84C-F189-D8C9-2A62-1994DABE6AA3}"/>
              </a:ext>
            </a:extLst>
          </p:cNvPr>
          <p:cNvSpPr txBox="1"/>
          <p:nvPr/>
        </p:nvSpPr>
        <p:spPr>
          <a:xfrm>
            <a:off x="7367954" y="1248508"/>
            <a:ext cx="4824046"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t>Fixation cross </a:t>
            </a:r>
          </a:p>
          <a:p>
            <a:pPr marL="800100" lvl="1" indent="-342900">
              <a:buFont typeface="Arial" panose="020B0604020202020204" pitchFamily="34" charset="0"/>
              <a:buChar char="•"/>
            </a:pPr>
            <a:r>
              <a:rPr lang="en-US" sz="2400" dirty="0"/>
              <a:t>start: 0s, durations: (until end)</a:t>
            </a:r>
          </a:p>
        </p:txBody>
      </p:sp>
      <p:sp>
        <p:nvSpPr>
          <p:cNvPr id="4" name="TextBox 3">
            <a:extLst>
              <a:ext uri="{FF2B5EF4-FFF2-40B4-BE49-F238E27FC236}">
                <a16:creationId xmlns:a16="http://schemas.microsoft.com/office/drawing/2014/main" id="{D650BB5B-43FA-E359-9F28-8E7F9AC58390}"/>
              </a:ext>
            </a:extLst>
          </p:cNvPr>
          <p:cNvSpPr txBox="1"/>
          <p:nvPr/>
        </p:nvSpPr>
        <p:spPr>
          <a:xfrm>
            <a:off x="7367954" y="2066441"/>
            <a:ext cx="4695092" cy="1200329"/>
          </a:xfrm>
          <a:prstGeom prst="rect">
            <a:avLst/>
          </a:prstGeom>
          <a:noFill/>
        </p:spPr>
        <p:txBody>
          <a:bodyPr wrap="square" rtlCol="0">
            <a:spAutoFit/>
          </a:bodyPr>
          <a:lstStyle/>
          <a:p>
            <a:pPr marL="342900" indent="-342900">
              <a:buFont typeface="Arial" panose="020B0604020202020204" pitchFamily="34" charset="0"/>
              <a:buChar char="•"/>
            </a:pPr>
            <a:r>
              <a:rPr lang="en-US" sz="2400" dirty="0"/>
              <a:t>2 boxes  </a:t>
            </a:r>
          </a:p>
          <a:p>
            <a:pPr marL="800100" lvl="1" indent="-342900">
              <a:buFont typeface="Arial" panose="020B0604020202020204" pitchFamily="34" charset="0"/>
              <a:buChar char="•"/>
            </a:pPr>
            <a:r>
              <a:rPr lang="en-US" sz="2400" dirty="0"/>
              <a:t>start: 0.25s, duration: (until end)</a:t>
            </a:r>
          </a:p>
        </p:txBody>
      </p:sp>
      <p:sp>
        <p:nvSpPr>
          <p:cNvPr id="5" name="TextBox 4">
            <a:extLst>
              <a:ext uri="{FF2B5EF4-FFF2-40B4-BE49-F238E27FC236}">
                <a16:creationId xmlns:a16="http://schemas.microsoft.com/office/drawing/2014/main" id="{42A6C3DA-7720-552B-48FF-08B1C9908A88}"/>
              </a:ext>
            </a:extLst>
          </p:cNvPr>
          <p:cNvSpPr txBox="1"/>
          <p:nvPr/>
        </p:nvSpPr>
        <p:spPr>
          <a:xfrm>
            <a:off x="7367954" y="3266770"/>
            <a:ext cx="4539878" cy="830997"/>
          </a:xfrm>
          <a:prstGeom prst="rect">
            <a:avLst/>
          </a:prstGeom>
          <a:noFill/>
        </p:spPr>
        <p:txBody>
          <a:bodyPr wrap="square" rtlCol="0">
            <a:spAutoFit/>
          </a:bodyPr>
          <a:lstStyle/>
          <a:p>
            <a:pPr marL="342900" indent="-342900">
              <a:buFont typeface="Arial" panose="020B0604020202020204" pitchFamily="34" charset="0"/>
              <a:buChar char="•"/>
            </a:pPr>
            <a:r>
              <a:rPr lang="en-US" sz="2400" dirty="0"/>
              <a:t>Cue  </a:t>
            </a:r>
          </a:p>
          <a:p>
            <a:pPr marL="800100" lvl="1" indent="-342900">
              <a:buFont typeface="Arial" panose="020B0604020202020204" pitchFamily="34" charset="0"/>
              <a:buChar char="•"/>
            </a:pPr>
            <a:r>
              <a:rPr lang="en-US" sz="2400" dirty="0"/>
              <a:t>start: 0.75s, durations: 0.10</a:t>
            </a:r>
          </a:p>
        </p:txBody>
      </p:sp>
      <p:sp>
        <p:nvSpPr>
          <p:cNvPr id="6" name="TextBox 5">
            <a:extLst>
              <a:ext uri="{FF2B5EF4-FFF2-40B4-BE49-F238E27FC236}">
                <a16:creationId xmlns:a16="http://schemas.microsoft.com/office/drawing/2014/main" id="{C55D1A2A-A2FA-AEDD-16B5-6A0E6524281D}"/>
              </a:ext>
            </a:extLst>
          </p:cNvPr>
          <p:cNvSpPr txBox="1"/>
          <p:nvPr/>
        </p:nvSpPr>
        <p:spPr>
          <a:xfrm>
            <a:off x="7406757" y="4097767"/>
            <a:ext cx="4462271" cy="830997"/>
          </a:xfrm>
          <a:prstGeom prst="rect">
            <a:avLst/>
          </a:prstGeom>
          <a:noFill/>
        </p:spPr>
        <p:txBody>
          <a:bodyPr wrap="square" rtlCol="0">
            <a:spAutoFit/>
          </a:bodyPr>
          <a:lstStyle/>
          <a:p>
            <a:pPr marL="365125" lvl="1" indent="-349250">
              <a:buFont typeface="Arial" panose="020B0604020202020204" pitchFamily="34" charset="0"/>
              <a:buChar char="•"/>
            </a:pPr>
            <a:r>
              <a:rPr lang="en-US" sz="2400" dirty="0"/>
              <a:t>GO signal</a:t>
            </a:r>
          </a:p>
          <a:p>
            <a:pPr marL="822325" lvl="2" indent="-349250">
              <a:buFont typeface="Arial" panose="020B0604020202020204" pitchFamily="34" charset="0"/>
              <a:buChar char="•"/>
            </a:pPr>
            <a:r>
              <a:rPr lang="en-US" sz="2400" dirty="0"/>
              <a:t>Start: 0.85s, duration: 2s</a:t>
            </a:r>
          </a:p>
        </p:txBody>
      </p:sp>
      <p:sp>
        <p:nvSpPr>
          <p:cNvPr id="7" name="TextBox 6">
            <a:extLst>
              <a:ext uri="{FF2B5EF4-FFF2-40B4-BE49-F238E27FC236}">
                <a16:creationId xmlns:a16="http://schemas.microsoft.com/office/drawing/2014/main" id="{DE9B3A25-CAA7-9E14-4C1C-196FF1FD8755}"/>
              </a:ext>
            </a:extLst>
          </p:cNvPr>
          <p:cNvSpPr txBox="1"/>
          <p:nvPr/>
        </p:nvSpPr>
        <p:spPr>
          <a:xfrm>
            <a:off x="7367954" y="4955996"/>
            <a:ext cx="4578682" cy="1846659"/>
          </a:xfrm>
          <a:prstGeom prst="rect">
            <a:avLst/>
          </a:prstGeom>
          <a:noFill/>
        </p:spPr>
        <p:txBody>
          <a:bodyPr wrap="square" rtlCol="0">
            <a:spAutoFit/>
          </a:bodyPr>
          <a:lstStyle/>
          <a:p>
            <a:pPr marL="400050" lvl="2" indent="-349250">
              <a:buFont typeface="Arial" panose="020B0604020202020204" pitchFamily="34" charset="0"/>
              <a:buChar char="•"/>
            </a:pPr>
            <a:r>
              <a:rPr lang="en-US" sz="2400" dirty="0"/>
              <a:t>Response</a:t>
            </a:r>
          </a:p>
          <a:p>
            <a:pPr marL="857250" lvl="3" indent="-349250">
              <a:buFont typeface="Arial" panose="020B0604020202020204" pitchFamily="34" charset="0"/>
              <a:buChar char="•"/>
            </a:pPr>
            <a:r>
              <a:rPr lang="en-US" sz="2400" dirty="0"/>
              <a:t>Start: 0.85, duration: unlimited (quit when response is made)</a:t>
            </a:r>
            <a:endParaRPr lang="en-US" sz="2000" dirty="0"/>
          </a:p>
          <a:p>
            <a:endParaRPr lang="en-US" dirty="0"/>
          </a:p>
        </p:txBody>
      </p:sp>
    </p:spTree>
    <p:extLst>
      <p:ext uri="{BB962C8B-B14F-4D97-AF65-F5344CB8AC3E}">
        <p14:creationId xmlns:p14="http://schemas.microsoft.com/office/powerpoint/2010/main" val="774565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4" grpId="0"/>
      <p:bldP spid="5" grpId="0"/>
      <p:bldP spid="6"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alpha val="86533"/>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1FCEC00-AD0D-664C-AAD3-F0E489CD940E}"/>
              </a:ext>
            </a:extLst>
          </p:cNvPr>
          <p:cNvGrpSpPr/>
          <p:nvPr/>
        </p:nvGrpSpPr>
        <p:grpSpPr>
          <a:xfrm>
            <a:off x="1524" y="127426"/>
            <a:ext cx="12190476" cy="6730574"/>
            <a:chOff x="0" y="127426"/>
            <a:chExt cx="12190476" cy="6730574"/>
          </a:xfrm>
          <a:pattFill prst="dkDnDiag">
            <a:fgClr>
              <a:srgbClr val="AB7942"/>
            </a:fgClr>
            <a:bgClr>
              <a:schemeClr val="bg1"/>
            </a:bgClr>
          </a:pattFill>
        </p:grpSpPr>
        <p:pic>
          <p:nvPicPr>
            <p:cNvPr id="6" name="Picture 4" descr="164,966 BEST Stacked Blocks IMAGES, STOCK PHOTOS &amp;amp; VECTORS | Adobe Stock">
              <a:extLst>
                <a:ext uri="{FF2B5EF4-FFF2-40B4-BE49-F238E27FC236}">
                  <a16:creationId xmlns:a16="http://schemas.microsoft.com/office/drawing/2014/main" id="{FC30A533-E5C7-BD45-8E21-E06A1AD588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296" r="1"/>
            <a:stretch/>
          </p:blipFill>
          <p:spPr bwMode="auto">
            <a:xfrm>
              <a:off x="7071360" y="127426"/>
              <a:ext cx="5119116" cy="6730574"/>
            </a:xfrm>
            <a:prstGeom prst="rect">
              <a:avLst/>
            </a:prstGeom>
            <a:grpFill/>
          </p:spPr>
        </p:pic>
        <p:pic>
          <p:nvPicPr>
            <p:cNvPr id="6148" name="Picture 4" descr="164,966 BEST Stacked Blocks IMAGES, STOCK PHOTOS &amp;amp; VECTORS | Adobe Stock">
              <a:extLst>
                <a:ext uri="{FF2B5EF4-FFF2-40B4-BE49-F238E27FC236}">
                  <a16:creationId xmlns:a16="http://schemas.microsoft.com/office/drawing/2014/main" id="{3513E8EF-9D54-6E4A-AFCA-C83426DE72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63"/>
            <a:stretch/>
          </p:blipFill>
          <p:spPr bwMode="auto">
            <a:xfrm>
              <a:off x="0" y="127426"/>
              <a:ext cx="8312698" cy="6730574"/>
            </a:xfrm>
            <a:prstGeom prst="rect">
              <a:avLst/>
            </a:prstGeom>
            <a:grpFill/>
          </p:spPr>
        </p:pic>
      </p:grpSp>
      <p:sp>
        <p:nvSpPr>
          <p:cNvPr id="135" name="Rectangle 13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solidFill>
            <a:schemeClr val="accent3">
              <a:lumMod val="75000"/>
              <a:alpha val="6932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TextBox 6">
            <a:extLst>
              <a:ext uri="{FF2B5EF4-FFF2-40B4-BE49-F238E27FC236}">
                <a16:creationId xmlns:a16="http://schemas.microsoft.com/office/drawing/2014/main" id="{9FCA8444-DEF0-C746-BA5E-AD8A4B9EF50A}"/>
              </a:ext>
            </a:extLst>
          </p:cNvPr>
          <p:cNvSpPr txBox="1"/>
          <p:nvPr/>
        </p:nvSpPr>
        <p:spPr>
          <a:xfrm>
            <a:off x="4513326" y="1289013"/>
            <a:ext cx="5119116" cy="769441"/>
          </a:xfrm>
          <a:prstGeom prst="rect">
            <a:avLst/>
          </a:prstGeom>
          <a:solidFill>
            <a:srgbClr val="AB7942">
              <a:alpha val="38000"/>
            </a:srgbClr>
          </a:solidFill>
        </p:spPr>
        <p:txBody>
          <a:bodyPr wrap="square" rtlCol="0">
            <a:spAutoFit/>
          </a:bodyPr>
          <a:lstStyle/>
          <a:p>
            <a:pPr algn="ctr"/>
            <a:r>
              <a:rPr lang="en-US" sz="4400" dirty="0"/>
              <a:t>GOAL 2</a:t>
            </a:r>
          </a:p>
        </p:txBody>
      </p:sp>
      <p:sp>
        <p:nvSpPr>
          <p:cNvPr id="8" name="TextBox 7">
            <a:extLst>
              <a:ext uri="{FF2B5EF4-FFF2-40B4-BE49-F238E27FC236}">
                <a16:creationId xmlns:a16="http://schemas.microsoft.com/office/drawing/2014/main" id="{E6A87778-369D-AE4D-A695-2242F8F2622C}"/>
              </a:ext>
            </a:extLst>
          </p:cNvPr>
          <p:cNvSpPr txBox="1"/>
          <p:nvPr/>
        </p:nvSpPr>
        <p:spPr>
          <a:xfrm>
            <a:off x="2457450" y="2506887"/>
            <a:ext cx="9482001" cy="1569660"/>
          </a:xfrm>
          <a:prstGeom prst="rect">
            <a:avLst/>
          </a:prstGeom>
          <a:solidFill>
            <a:schemeClr val="bg1">
              <a:alpha val="98145"/>
            </a:schemeClr>
          </a:solidFill>
        </p:spPr>
        <p:txBody>
          <a:bodyPr wrap="square" rtlCol="0">
            <a:spAutoFit/>
          </a:bodyPr>
          <a:lstStyle/>
          <a:p>
            <a:pPr algn="ctr"/>
            <a:r>
              <a:rPr lang="en-US" sz="4800" dirty="0"/>
              <a:t>Add practice trials using a code component</a:t>
            </a:r>
          </a:p>
        </p:txBody>
      </p:sp>
    </p:spTree>
    <p:extLst>
      <p:ext uri="{BB962C8B-B14F-4D97-AF65-F5344CB8AC3E}">
        <p14:creationId xmlns:p14="http://schemas.microsoft.com/office/powerpoint/2010/main" val="2174263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alpha val="86533"/>
          </a:schemeClr>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41FCEC00-AD0D-664C-AAD3-F0E489CD940E}"/>
              </a:ext>
            </a:extLst>
          </p:cNvPr>
          <p:cNvGrpSpPr/>
          <p:nvPr/>
        </p:nvGrpSpPr>
        <p:grpSpPr>
          <a:xfrm>
            <a:off x="1524" y="127426"/>
            <a:ext cx="12190476" cy="6730574"/>
            <a:chOff x="0" y="127426"/>
            <a:chExt cx="12190476" cy="6730574"/>
          </a:xfrm>
          <a:pattFill prst="dkDnDiag">
            <a:fgClr>
              <a:srgbClr val="AB7942"/>
            </a:fgClr>
            <a:bgClr>
              <a:schemeClr val="bg1"/>
            </a:bgClr>
          </a:pattFill>
        </p:grpSpPr>
        <p:pic>
          <p:nvPicPr>
            <p:cNvPr id="6" name="Picture 4" descr="164,966 BEST Stacked Blocks IMAGES, STOCK PHOTOS &amp;amp; VECTORS | Adobe Stock">
              <a:extLst>
                <a:ext uri="{FF2B5EF4-FFF2-40B4-BE49-F238E27FC236}">
                  <a16:creationId xmlns:a16="http://schemas.microsoft.com/office/drawing/2014/main" id="{FC30A533-E5C7-BD45-8E21-E06A1AD588B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296" r="1"/>
            <a:stretch/>
          </p:blipFill>
          <p:spPr bwMode="auto">
            <a:xfrm>
              <a:off x="7071360" y="127426"/>
              <a:ext cx="5119116" cy="6730574"/>
            </a:xfrm>
            <a:prstGeom prst="rect">
              <a:avLst/>
            </a:prstGeom>
            <a:grpFill/>
          </p:spPr>
        </p:pic>
        <p:pic>
          <p:nvPicPr>
            <p:cNvPr id="6148" name="Picture 4" descr="164,966 BEST Stacked Blocks IMAGES, STOCK PHOTOS &amp;amp; VECTORS | Adobe Stock">
              <a:extLst>
                <a:ext uri="{FF2B5EF4-FFF2-40B4-BE49-F238E27FC236}">
                  <a16:creationId xmlns:a16="http://schemas.microsoft.com/office/drawing/2014/main" id="{3513E8EF-9D54-6E4A-AFCA-C83426DE728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663"/>
            <a:stretch/>
          </p:blipFill>
          <p:spPr bwMode="auto">
            <a:xfrm>
              <a:off x="0" y="127426"/>
              <a:ext cx="8312698" cy="6730574"/>
            </a:xfrm>
            <a:prstGeom prst="rect">
              <a:avLst/>
            </a:prstGeom>
            <a:grpFill/>
          </p:spPr>
        </p:pic>
      </p:grpSp>
      <p:sp>
        <p:nvSpPr>
          <p:cNvPr id="135" name="Rectangle 13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solidFill>
            <a:schemeClr val="accent3">
              <a:lumMod val="75000"/>
              <a:alpha val="6932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TextBox 6">
            <a:extLst>
              <a:ext uri="{FF2B5EF4-FFF2-40B4-BE49-F238E27FC236}">
                <a16:creationId xmlns:a16="http://schemas.microsoft.com/office/drawing/2014/main" id="{9FCA8444-DEF0-C746-BA5E-AD8A4B9EF50A}"/>
              </a:ext>
            </a:extLst>
          </p:cNvPr>
          <p:cNvSpPr txBox="1"/>
          <p:nvPr/>
        </p:nvSpPr>
        <p:spPr>
          <a:xfrm>
            <a:off x="4513326" y="1289013"/>
            <a:ext cx="5119116" cy="769441"/>
          </a:xfrm>
          <a:prstGeom prst="rect">
            <a:avLst/>
          </a:prstGeom>
          <a:solidFill>
            <a:srgbClr val="AB7942">
              <a:alpha val="38000"/>
            </a:srgbClr>
          </a:solidFill>
        </p:spPr>
        <p:txBody>
          <a:bodyPr wrap="square" rtlCol="0">
            <a:spAutoFit/>
          </a:bodyPr>
          <a:lstStyle/>
          <a:p>
            <a:pPr algn="ctr"/>
            <a:r>
              <a:rPr lang="en-US" sz="4400" dirty="0"/>
              <a:t>GOAL 3</a:t>
            </a:r>
          </a:p>
        </p:txBody>
      </p:sp>
      <p:sp>
        <p:nvSpPr>
          <p:cNvPr id="8" name="TextBox 7">
            <a:extLst>
              <a:ext uri="{FF2B5EF4-FFF2-40B4-BE49-F238E27FC236}">
                <a16:creationId xmlns:a16="http://schemas.microsoft.com/office/drawing/2014/main" id="{E6A87778-369D-AE4D-A695-2242F8F2622C}"/>
              </a:ext>
            </a:extLst>
          </p:cNvPr>
          <p:cNvSpPr txBox="1"/>
          <p:nvPr/>
        </p:nvSpPr>
        <p:spPr>
          <a:xfrm>
            <a:off x="2457451" y="2506887"/>
            <a:ext cx="9495064" cy="1569660"/>
          </a:xfrm>
          <a:prstGeom prst="rect">
            <a:avLst/>
          </a:prstGeom>
          <a:solidFill>
            <a:schemeClr val="bg1">
              <a:alpha val="98145"/>
            </a:schemeClr>
          </a:solidFill>
        </p:spPr>
        <p:txBody>
          <a:bodyPr wrap="square" rtlCol="0">
            <a:spAutoFit/>
          </a:bodyPr>
          <a:lstStyle/>
          <a:p>
            <a:pPr algn="ctr"/>
            <a:r>
              <a:rPr lang="en-US" sz="4800" dirty="0"/>
              <a:t>Add instructions, welcome, and goodbye screen</a:t>
            </a:r>
          </a:p>
        </p:txBody>
      </p:sp>
    </p:spTree>
    <p:extLst>
      <p:ext uri="{BB962C8B-B14F-4D97-AF65-F5344CB8AC3E}">
        <p14:creationId xmlns:p14="http://schemas.microsoft.com/office/powerpoint/2010/main" val="1879009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4589A014-5FE5-9B44-9CE8-8E9A8E48D3C0}"/>
              </a:ext>
            </a:extLst>
          </p:cNvPr>
          <p:cNvSpPr txBox="1"/>
          <p:nvPr/>
        </p:nvSpPr>
        <p:spPr>
          <a:xfrm>
            <a:off x="1246094" y="1920318"/>
            <a:ext cx="9699812" cy="2554545"/>
          </a:xfrm>
          <a:prstGeom prst="rect">
            <a:avLst/>
          </a:prstGeom>
          <a:noFill/>
        </p:spPr>
        <p:txBody>
          <a:bodyPr wrap="square" rtlCol="0">
            <a:spAutoFit/>
          </a:bodyPr>
          <a:lstStyle/>
          <a:p>
            <a:pPr algn="ctr"/>
            <a:r>
              <a:rPr lang="en-US" sz="8000" dirty="0"/>
              <a:t>You have a working experiment!</a:t>
            </a:r>
          </a:p>
        </p:txBody>
      </p:sp>
    </p:spTree>
    <p:extLst>
      <p:ext uri="{BB962C8B-B14F-4D97-AF65-F5344CB8AC3E}">
        <p14:creationId xmlns:p14="http://schemas.microsoft.com/office/powerpoint/2010/main" val="751669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617B9-411F-3E8D-23D2-A03BEEF29262}"/>
            </a:ext>
          </a:extLst>
        </p:cNvPr>
        <p:cNvGrpSpPr/>
        <p:nvPr/>
      </p:nvGrpSpPr>
      <p:grpSpPr>
        <a:xfrm>
          <a:off x="0" y="0"/>
          <a:ext cx="0" cy="0"/>
          <a:chOff x="0" y="0"/>
          <a:chExt cx="0" cy="0"/>
        </a:xfrm>
      </p:grpSpPr>
      <p:pic>
        <p:nvPicPr>
          <p:cNvPr id="1026" name="Picture 2" descr="Toy Blocks Pictures | Download Free Images on Unsplash">
            <a:extLst>
              <a:ext uri="{FF2B5EF4-FFF2-40B4-BE49-F238E27FC236}">
                <a16:creationId xmlns:a16="http://schemas.microsoft.com/office/drawing/2014/main" id="{44AF2749-7EE7-4823-ACE0-7F1F2AEB77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56" t="10157" r="6403" b="15939"/>
          <a:stretch/>
        </p:blipFill>
        <p:spPr bwMode="auto">
          <a:xfrm>
            <a:off x="0" y="0"/>
            <a:ext cx="12190476" cy="68579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B847D5E-2BFF-1F67-7875-A6BC630A58E6}"/>
              </a:ext>
            </a:extLst>
          </p:cNvPr>
          <p:cNvSpPr txBox="1"/>
          <p:nvPr/>
        </p:nvSpPr>
        <p:spPr>
          <a:xfrm>
            <a:off x="1588359" y="2719251"/>
            <a:ext cx="1879600" cy="523220"/>
          </a:xfrm>
          <a:prstGeom prst="rect">
            <a:avLst/>
          </a:prstGeom>
          <a:noFill/>
        </p:spPr>
        <p:txBody>
          <a:bodyPr wrap="square" rtlCol="0">
            <a:spAutoFit/>
          </a:bodyPr>
          <a:lstStyle/>
          <a:p>
            <a:pPr algn="ctr"/>
            <a:r>
              <a:rPr lang="en-US" sz="2800" dirty="0"/>
              <a:t>Building </a:t>
            </a:r>
          </a:p>
        </p:txBody>
      </p:sp>
      <p:sp>
        <p:nvSpPr>
          <p:cNvPr id="10" name="TextBox 9">
            <a:extLst>
              <a:ext uri="{FF2B5EF4-FFF2-40B4-BE49-F238E27FC236}">
                <a16:creationId xmlns:a16="http://schemas.microsoft.com/office/drawing/2014/main" id="{EC9CD937-1807-157B-1A0A-A10A61FC85A5}"/>
              </a:ext>
            </a:extLst>
          </p:cNvPr>
          <p:cNvSpPr txBox="1"/>
          <p:nvPr/>
        </p:nvSpPr>
        <p:spPr>
          <a:xfrm>
            <a:off x="4077148" y="2719251"/>
            <a:ext cx="1879600" cy="523220"/>
          </a:xfrm>
          <a:prstGeom prst="rect">
            <a:avLst/>
          </a:prstGeom>
          <a:noFill/>
        </p:spPr>
        <p:txBody>
          <a:bodyPr wrap="square" rtlCol="0">
            <a:spAutoFit/>
          </a:bodyPr>
          <a:lstStyle/>
          <a:p>
            <a:pPr algn="ctr"/>
            <a:r>
              <a:rPr lang="en-US" sz="2800" dirty="0"/>
              <a:t>Hosting</a:t>
            </a:r>
          </a:p>
        </p:txBody>
      </p:sp>
      <p:sp>
        <p:nvSpPr>
          <p:cNvPr id="11" name="TextBox 10">
            <a:extLst>
              <a:ext uri="{FF2B5EF4-FFF2-40B4-BE49-F238E27FC236}">
                <a16:creationId xmlns:a16="http://schemas.microsoft.com/office/drawing/2014/main" id="{BD5A134F-B25F-D1FF-C660-91545A3818DA}"/>
              </a:ext>
            </a:extLst>
          </p:cNvPr>
          <p:cNvSpPr txBox="1"/>
          <p:nvPr/>
        </p:nvSpPr>
        <p:spPr>
          <a:xfrm>
            <a:off x="6474873" y="2671178"/>
            <a:ext cx="1968459" cy="523220"/>
          </a:xfrm>
          <a:prstGeom prst="rect">
            <a:avLst/>
          </a:prstGeom>
          <a:noFill/>
        </p:spPr>
        <p:txBody>
          <a:bodyPr wrap="square" rtlCol="0">
            <a:spAutoFit/>
          </a:bodyPr>
          <a:lstStyle/>
          <a:p>
            <a:pPr algn="ctr"/>
            <a:r>
              <a:rPr lang="en-US" sz="2800" dirty="0"/>
              <a:t>Consent</a:t>
            </a:r>
          </a:p>
        </p:txBody>
      </p:sp>
      <p:sp>
        <p:nvSpPr>
          <p:cNvPr id="12" name="TextBox 11">
            <a:extLst>
              <a:ext uri="{FF2B5EF4-FFF2-40B4-BE49-F238E27FC236}">
                <a16:creationId xmlns:a16="http://schemas.microsoft.com/office/drawing/2014/main" id="{5557EEA6-DD50-22A5-92F8-60BDEFBF61AC}"/>
              </a:ext>
            </a:extLst>
          </p:cNvPr>
          <p:cNvSpPr txBox="1"/>
          <p:nvPr/>
        </p:nvSpPr>
        <p:spPr>
          <a:xfrm>
            <a:off x="8838471" y="2719251"/>
            <a:ext cx="2113075" cy="523220"/>
          </a:xfrm>
          <a:prstGeom prst="rect">
            <a:avLst/>
          </a:prstGeom>
          <a:noFill/>
        </p:spPr>
        <p:txBody>
          <a:bodyPr wrap="square" rtlCol="0">
            <a:spAutoFit/>
          </a:bodyPr>
          <a:lstStyle/>
          <a:p>
            <a:pPr algn="ctr"/>
            <a:r>
              <a:rPr lang="en-US" sz="2800" dirty="0"/>
              <a:t>Recruitment</a:t>
            </a:r>
          </a:p>
        </p:txBody>
      </p:sp>
      <p:sp>
        <p:nvSpPr>
          <p:cNvPr id="4" name="TextBox 3">
            <a:extLst>
              <a:ext uri="{FF2B5EF4-FFF2-40B4-BE49-F238E27FC236}">
                <a16:creationId xmlns:a16="http://schemas.microsoft.com/office/drawing/2014/main" id="{C58759B4-56A6-B30A-FB1A-327E7423ECAC}"/>
              </a:ext>
            </a:extLst>
          </p:cNvPr>
          <p:cNvSpPr txBox="1"/>
          <p:nvPr/>
        </p:nvSpPr>
        <p:spPr>
          <a:xfrm>
            <a:off x="2187615" y="127321"/>
            <a:ext cx="7998107" cy="707886"/>
          </a:xfrm>
          <a:prstGeom prst="rect">
            <a:avLst/>
          </a:prstGeom>
          <a:noFill/>
        </p:spPr>
        <p:txBody>
          <a:bodyPr wrap="square" rtlCol="0">
            <a:spAutoFit/>
          </a:bodyPr>
          <a:lstStyle/>
          <a:p>
            <a:pPr algn="ctr"/>
            <a:r>
              <a:rPr lang="en-CA" sz="4000" b="1" dirty="0">
                <a:solidFill>
                  <a:srgbClr val="D55953"/>
                </a:solidFill>
              </a:rPr>
              <a:t>Online Experiment</a:t>
            </a:r>
          </a:p>
        </p:txBody>
      </p:sp>
      <p:sp>
        <p:nvSpPr>
          <p:cNvPr id="5" name="TextBox 4">
            <a:extLst>
              <a:ext uri="{FF2B5EF4-FFF2-40B4-BE49-F238E27FC236}">
                <a16:creationId xmlns:a16="http://schemas.microsoft.com/office/drawing/2014/main" id="{284AE76E-CB59-0107-8F98-4573135103A3}"/>
              </a:ext>
            </a:extLst>
          </p:cNvPr>
          <p:cNvSpPr txBox="1"/>
          <p:nvPr/>
        </p:nvSpPr>
        <p:spPr>
          <a:xfrm>
            <a:off x="1588359" y="3796496"/>
            <a:ext cx="1791449" cy="369332"/>
          </a:xfrm>
          <a:prstGeom prst="rect">
            <a:avLst/>
          </a:prstGeom>
          <a:noFill/>
        </p:spPr>
        <p:txBody>
          <a:bodyPr wrap="square" rtlCol="0">
            <a:spAutoFit/>
          </a:bodyPr>
          <a:lstStyle/>
          <a:p>
            <a:pPr marL="285750" indent="-285750">
              <a:buFont typeface="Arial" panose="020B0604020202020204" pitchFamily="34" charset="0"/>
              <a:buChar char="•"/>
            </a:pPr>
            <a:r>
              <a:rPr lang="en-CA" dirty="0" err="1"/>
              <a:t>PsychoPy</a:t>
            </a:r>
            <a:endParaRPr lang="en-CA" dirty="0"/>
          </a:p>
        </p:txBody>
      </p:sp>
      <p:sp>
        <p:nvSpPr>
          <p:cNvPr id="6" name="TextBox 5">
            <a:extLst>
              <a:ext uri="{FF2B5EF4-FFF2-40B4-BE49-F238E27FC236}">
                <a16:creationId xmlns:a16="http://schemas.microsoft.com/office/drawing/2014/main" id="{7123A8AF-FF8B-F927-51DE-545C9F11DA19}"/>
              </a:ext>
            </a:extLst>
          </p:cNvPr>
          <p:cNvSpPr txBox="1"/>
          <p:nvPr/>
        </p:nvSpPr>
        <p:spPr>
          <a:xfrm>
            <a:off x="4077148" y="3796496"/>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CA" dirty="0"/>
              <a:t>Pavlovia</a:t>
            </a:r>
          </a:p>
        </p:txBody>
      </p:sp>
      <p:sp>
        <p:nvSpPr>
          <p:cNvPr id="7" name="TextBox 6">
            <a:extLst>
              <a:ext uri="{FF2B5EF4-FFF2-40B4-BE49-F238E27FC236}">
                <a16:creationId xmlns:a16="http://schemas.microsoft.com/office/drawing/2014/main" id="{B65F5D8D-610D-478F-89AD-5A8FB7E89290}"/>
              </a:ext>
            </a:extLst>
          </p:cNvPr>
          <p:cNvSpPr txBox="1"/>
          <p:nvPr/>
        </p:nvSpPr>
        <p:spPr>
          <a:xfrm>
            <a:off x="6474873" y="3761375"/>
            <a:ext cx="1879600" cy="1200329"/>
          </a:xfrm>
          <a:prstGeom prst="rect">
            <a:avLst/>
          </a:prstGeom>
          <a:noFill/>
        </p:spPr>
        <p:txBody>
          <a:bodyPr wrap="square" rtlCol="0">
            <a:spAutoFit/>
          </a:bodyPr>
          <a:lstStyle/>
          <a:p>
            <a:pPr marL="285750" indent="-285750">
              <a:buFont typeface="Arial" panose="020B0604020202020204" pitchFamily="34" charset="0"/>
              <a:buChar char="•"/>
            </a:pPr>
            <a:r>
              <a:rPr lang="en-CA" dirty="0"/>
              <a:t>Pavlovia Survey for online consent form</a:t>
            </a:r>
          </a:p>
        </p:txBody>
      </p:sp>
      <p:sp>
        <p:nvSpPr>
          <p:cNvPr id="8" name="TextBox 7">
            <a:extLst>
              <a:ext uri="{FF2B5EF4-FFF2-40B4-BE49-F238E27FC236}">
                <a16:creationId xmlns:a16="http://schemas.microsoft.com/office/drawing/2014/main" id="{FD29BFD0-EC20-FDB0-E142-62F768B88574}"/>
              </a:ext>
            </a:extLst>
          </p:cNvPr>
          <p:cNvSpPr txBox="1"/>
          <p:nvPr/>
        </p:nvSpPr>
        <p:spPr>
          <a:xfrm>
            <a:off x="9118245" y="3796496"/>
            <a:ext cx="1879600" cy="646331"/>
          </a:xfrm>
          <a:prstGeom prst="rect">
            <a:avLst/>
          </a:prstGeom>
          <a:noFill/>
        </p:spPr>
        <p:txBody>
          <a:bodyPr wrap="square" rtlCol="0">
            <a:spAutoFit/>
          </a:bodyPr>
          <a:lstStyle/>
          <a:p>
            <a:pPr marL="285750" indent="-285750">
              <a:buFont typeface="Arial" panose="020B0604020202020204" pitchFamily="34" charset="0"/>
              <a:buChar char="•"/>
            </a:pPr>
            <a:r>
              <a:rPr lang="en-CA" dirty="0"/>
              <a:t>URPP </a:t>
            </a:r>
          </a:p>
          <a:p>
            <a:pPr marL="285750" indent="-285750">
              <a:buFont typeface="Arial" panose="020B0604020202020204" pitchFamily="34" charset="0"/>
              <a:buChar char="•"/>
            </a:pPr>
            <a:r>
              <a:rPr lang="en-CA" dirty="0"/>
              <a:t>Prolific </a:t>
            </a:r>
          </a:p>
        </p:txBody>
      </p:sp>
      <p:pic>
        <p:nvPicPr>
          <p:cNvPr id="2" name="Picture 4" descr="Home — PsychoPy v3.0">
            <a:extLst>
              <a:ext uri="{FF2B5EF4-FFF2-40B4-BE49-F238E27FC236}">
                <a16:creationId xmlns:a16="http://schemas.microsoft.com/office/drawing/2014/main" id="{684989AA-0B08-96B9-D074-8D622F38CD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023" y="1850801"/>
            <a:ext cx="1867936" cy="79216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Pavlovia">
            <a:extLst>
              <a:ext uri="{FF2B5EF4-FFF2-40B4-BE49-F238E27FC236}">
                <a16:creationId xmlns:a16="http://schemas.microsoft.com/office/drawing/2014/main" id="{9136721C-2049-A954-FF7A-14BBA86D0F3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6775" y="1749473"/>
            <a:ext cx="863639" cy="86363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Pavlovia">
            <a:extLst>
              <a:ext uri="{FF2B5EF4-FFF2-40B4-BE49-F238E27FC236}">
                <a16:creationId xmlns:a16="http://schemas.microsoft.com/office/drawing/2014/main" id="{815B5BE3-9303-9FEC-1467-379BF3D0CC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7966" y="1888766"/>
            <a:ext cx="854171" cy="8541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pen Science Tools Ltd.">
            <a:extLst>
              <a:ext uri="{FF2B5EF4-FFF2-40B4-BE49-F238E27FC236}">
                <a16:creationId xmlns:a16="http://schemas.microsoft.com/office/drawing/2014/main" id="{699F968F-9CC4-3F3F-3F05-360795D9790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4100" y="1817314"/>
            <a:ext cx="785002" cy="92531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SonaSystems - YouTube">
            <a:extLst>
              <a:ext uri="{FF2B5EF4-FFF2-40B4-BE49-F238E27FC236}">
                <a16:creationId xmlns:a16="http://schemas.microsoft.com/office/drawing/2014/main" id="{63588DD2-B1AA-AC21-182B-52D52091D16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5510" b="23733"/>
          <a:stretch/>
        </p:blipFill>
        <p:spPr bwMode="auto">
          <a:xfrm>
            <a:off x="9227467" y="2084622"/>
            <a:ext cx="1296395" cy="65800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rolific - Insight Platforms">
            <a:extLst>
              <a:ext uri="{FF2B5EF4-FFF2-40B4-BE49-F238E27FC236}">
                <a16:creationId xmlns:a16="http://schemas.microsoft.com/office/drawing/2014/main" id="{B58DD743-CDA9-40F6-23AC-68AD30D22BFB}"/>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40316" b="39196"/>
          <a:stretch/>
        </p:blipFill>
        <p:spPr bwMode="auto">
          <a:xfrm>
            <a:off x="8924149" y="1572628"/>
            <a:ext cx="1726331" cy="35368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wooden block with a logo&#10;&#10;AI-generated content may be incorrect.">
            <a:extLst>
              <a:ext uri="{FF2B5EF4-FFF2-40B4-BE49-F238E27FC236}">
                <a16:creationId xmlns:a16="http://schemas.microsoft.com/office/drawing/2014/main" id="{900C7BD3-BFC7-D686-9A80-FD9C78CF56A8}"/>
              </a:ext>
            </a:extLst>
          </p:cNvPr>
          <p:cNvPicPr>
            <a:picLocks noChangeAspect="1"/>
          </p:cNvPicPr>
          <p:nvPr/>
        </p:nvPicPr>
        <p:blipFill>
          <a:blip r:embed="rId9">
            <a:extLst>
              <a:ext uri="{BEBA8EAE-BF5A-486C-A8C5-ECC9F3942E4B}">
                <a14:imgProps xmlns:a14="http://schemas.microsoft.com/office/drawing/2010/main">
                  <a14:imgLayer r:embed="rId10">
                    <a14:imgEffect>
                      <a14:artisticBlur/>
                    </a14:imgEffect>
                  </a14:imgLayer>
                </a14:imgProps>
              </a:ext>
            </a:extLst>
          </a:blip>
          <a:srcRect b="6819"/>
          <a:stretch/>
        </p:blipFill>
        <p:spPr>
          <a:xfrm>
            <a:off x="268838" y="1105221"/>
            <a:ext cx="3523631" cy="5382550"/>
          </a:xfrm>
          <a:prstGeom prst="rect">
            <a:avLst/>
          </a:prstGeom>
        </p:spPr>
      </p:pic>
      <p:pic>
        <p:nvPicPr>
          <p:cNvPr id="18" name="Picture 17" descr="A wooden cubes with different logos&#10;&#10;AI-generated content may be incorrect.">
            <a:extLst>
              <a:ext uri="{FF2B5EF4-FFF2-40B4-BE49-F238E27FC236}">
                <a16:creationId xmlns:a16="http://schemas.microsoft.com/office/drawing/2014/main" id="{FEC94FDB-640A-75AF-ABB0-D252ECBFF8D3}"/>
              </a:ext>
            </a:extLst>
          </p:cNvPr>
          <p:cNvPicPr>
            <a:picLocks noChangeAspect="1"/>
          </p:cNvPicPr>
          <p:nvPr/>
        </p:nvPicPr>
        <p:blipFill>
          <a:blip r:embed="rId11">
            <a:extLst>
              <a:ext uri="{BEBA8EAE-BF5A-486C-A8C5-ECC9F3942E4B}">
                <a14:imgProps xmlns:a14="http://schemas.microsoft.com/office/drawing/2010/main">
                  <a14:imgLayer r:embed="rId12">
                    <a14:imgEffect>
                      <a14:artisticBlur/>
                    </a14:imgEffect>
                  </a14:imgLayer>
                </a14:imgProps>
              </a:ext>
            </a:extLst>
          </a:blip>
          <a:srcRect b="8063"/>
          <a:stretch/>
        </p:blipFill>
        <p:spPr>
          <a:xfrm>
            <a:off x="6295485" y="926598"/>
            <a:ext cx="6028880" cy="5476750"/>
          </a:xfrm>
          <a:prstGeom prst="rect">
            <a:avLst/>
          </a:prstGeom>
        </p:spPr>
      </p:pic>
    </p:spTree>
    <p:extLst>
      <p:ext uri="{BB962C8B-B14F-4D97-AF65-F5344CB8AC3E}">
        <p14:creationId xmlns:p14="http://schemas.microsoft.com/office/powerpoint/2010/main" val="590522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7BCD9-DF0A-946E-56F1-462BECB53B25}"/>
            </a:ext>
          </a:extLst>
        </p:cNvPr>
        <p:cNvGrpSpPr/>
        <p:nvPr/>
      </p:nvGrpSpPr>
      <p:grpSpPr>
        <a:xfrm>
          <a:off x="0" y="0"/>
          <a:ext cx="0" cy="0"/>
          <a:chOff x="0" y="0"/>
          <a:chExt cx="0" cy="0"/>
        </a:xfrm>
      </p:grpSpPr>
      <p:pic>
        <p:nvPicPr>
          <p:cNvPr id="1026" name="Picture 2" descr="Toy Blocks Pictures | Download Free Images on Unsplash">
            <a:extLst>
              <a:ext uri="{FF2B5EF4-FFF2-40B4-BE49-F238E27FC236}">
                <a16:creationId xmlns:a16="http://schemas.microsoft.com/office/drawing/2014/main" id="{AAB70A8B-9EE3-EAAB-6E67-9D7B76FC2D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56" t="10157" r="6403" b="15939"/>
          <a:stretch/>
        </p:blipFill>
        <p:spPr bwMode="auto">
          <a:xfrm>
            <a:off x="0" y="0"/>
            <a:ext cx="12190476" cy="68579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84DF77E-678F-F60D-DBF2-10E0D9B4F23F}"/>
              </a:ext>
            </a:extLst>
          </p:cNvPr>
          <p:cNvSpPr txBox="1"/>
          <p:nvPr/>
        </p:nvSpPr>
        <p:spPr>
          <a:xfrm>
            <a:off x="1588359" y="2719251"/>
            <a:ext cx="1879600" cy="523220"/>
          </a:xfrm>
          <a:prstGeom prst="rect">
            <a:avLst/>
          </a:prstGeom>
          <a:noFill/>
        </p:spPr>
        <p:txBody>
          <a:bodyPr wrap="square" rtlCol="0">
            <a:spAutoFit/>
          </a:bodyPr>
          <a:lstStyle/>
          <a:p>
            <a:pPr algn="ctr"/>
            <a:r>
              <a:rPr lang="en-US" sz="2800" dirty="0"/>
              <a:t>Building </a:t>
            </a:r>
          </a:p>
        </p:txBody>
      </p:sp>
      <p:sp>
        <p:nvSpPr>
          <p:cNvPr id="10" name="TextBox 9">
            <a:extLst>
              <a:ext uri="{FF2B5EF4-FFF2-40B4-BE49-F238E27FC236}">
                <a16:creationId xmlns:a16="http://schemas.microsoft.com/office/drawing/2014/main" id="{10041B65-0A77-88B2-0287-A9463B4F16ED}"/>
              </a:ext>
            </a:extLst>
          </p:cNvPr>
          <p:cNvSpPr txBox="1"/>
          <p:nvPr/>
        </p:nvSpPr>
        <p:spPr>
          <a:xfrm>
            <a:off x="4077148" y="2719251"/>
            <a:ext cx="1879600" cy="523220"/>
          </a:xfrm>
          <a:prstGeom prst="rect">
            <a:avLst/>
          </a:prstGeom>
          <a:noFill/>
        </p:spPr>
        <p:txBody>
          <a:bodyPr wrap="square" rtlCol="0">
            <a:spAutoFit/>
          </a:bodyPr>
          <a:lstStyle/>
          <a:p>
            <a:pPr algn="ctr"/>
            <a:r>
              <a:rPr lang="en-US" sz="2800" dirty="0"/>
              <a:t>Hosting</a:t>
            </a:r>
          </a:p>
        </p:txBody>
      </p:sp>
      <p:sp>
        <p:nvSpPr>
          <p:cNvPr id="11" name="TextBox 10">
            <a:extLst>
              <a:ext uri="{FF2B5EF4-FFF2-40B4-BE49-F238E27FC236}">
                <a16:creationId xmlns:a16="http://schemas.microsoft.com/office/drawing/2014/main" id="{55F85C3E-EF6E-6162-4F5F-E0C5960AD6F7}"/>
              </a:ext>
            </a:extLst>
          </p:cNvPr>
          <p:cNvSpPr txBox="1"/>
          <p:nvPr/>
        </p:nvSpPr>
        <p:spPr>
          <a:xfrm>
            <a:off x="6474873" y="2671178"/>
            <a:ext cx="1968459" cy="523220"/>
          </a:xfrm>
          <a:prstGeom prst="rect">
            <a:avLst/>
          </a:prstGeom>
          <a:noFill/>
        </p:spPr>
        <p:txBody>
          <a:bodyPr wrap="square" rtlCol="0">
            <a:spAutoFit/>
          </a:bodyPr>
          <a:lstStyle/>
          <a:p>
            <a:pPr algn="ctr"/>
            <a:r>
              <a:rPr lang="en-US" sz="2800" dirty="0"/>
              <a:t>Consent</a:t>
            </a:r>
          </a:p>
        </p:txBody>
      </p:sp>
      <p:sp>
        <p:nvSpPr>
          <p:cNvPr id="12" name="TextBox 11">
            <a:extLst>
              <a:ext uri="{FF2B5EF4-FFF2-40B4-BE49-F238E27FC236}">
                <a16:creationId xmlns:a16="http://schemas.microsoft.com/office/drawing/2014/main" id="{86FF70BC-4D1C-E391-630F-1D27E6EBCF53}"/>
              </a:ext>
            </a:extLst>
          </p:cNvPr>
          <p:cNvSpPr txBox="1"/>
          <p:nvPr/>
        </p:nvSpPr>
        <p:spPr>
          <a:xfrm>
            <a:off x="8838471" y="2719251"/>
            <a:ext cx="2113075" cy="523220"/>
          </a:xfrm>
          <a:prstGeom prst="rect">
            <a:avLst/>
          </a:prstGeom>
          <a:noFill/>
        </p:spPr>
        <p:txBody>
          <a:bodyPr wrap="square" rtlCol="0">
            <a:spAutoFit/>
          </a:bodyPr>
          <a:lstStyle/>
          <a:p>
            <a:pPr algn="ctr"/>
            <a:r>
              <a:rPr lang="en-US" sz="2800" dirty="0"/>
              <a:t>Recruitment</a:t>
            </a:r>
          </a:p>
        </p:txBody>
      </p:sp>
      <p:sp>
        <p:nvSpPr>
          <p:cNvPr id="4" name="TextBox 3">
            <a:extLst>
              <a:ext uri="{FF2B5EF4-FFF2-40B4-BE49-F238E27FC236}">
                <a16:creationId xmlns:a16="http://schemas.microsoft.com/office/drawing/2014/main" id="{B7F3908A-5C90-BF0E-FD4E-993BC55B4FEC}"/>
              </a:ext>
            </a:extLst>
          </p:cNvPr>
          <p:cNvSpPr txBox="1"/>
          <p:nvPr/>
        </p:nvSpPr>
        <p:spPr>
          <a:xfrm>
            <a:off x="2187615" y="127321"/>
            <a:ext cx="7998107" cy="707886"/>
          </a:xfrm>
          <a:prstGeom prst="rect">
            <a:avLst/>
          </a:prstGeom>
          <a:noFill/>
        </p:spPr>
        <p:txBody>
          <a:bodyPr wrap="square" rtlCol="0">
            <a:spAutoFit/>
          </a:bodyPr>
          <a:lstStyle/>
          <a:p>
            <a:pPr algn="ctr"/>
            <a:r>
              <a:rPr lang="en-CA" sz="4000" b="1" dirty="0">
                <a:solidFill>
                  <a:srgbClr val="D55953"/>
                </a:solidFill>
              </a:rPr>
              <a:t>Online Experiment</a:t>
            </a:r>
          </a:p>
        </p:txBody>
      </p:sp>
      <p:sp>
        <p:nvSpPr>
          <p:cNvPr id="5" name="TextBox 4">
            <a:extLst>
              <a:ext uri="{FF2B5EF4-FFF2-40B4-BE49-F238E27FC236}">
                <a16:creationId xmlns:a16="http://schemas.microsoft.com/office/drawing/2014/main" id="{00DA971A-4998-D0C6-C020-D0183748586B}"/>
              </a:ext>
            </a:extLst>
          </p:cNvPr>
          <p:cNvSpPr txBox="1"/>
          <p:nvPr/>
        </p:nvSpPr>
        <p:spPr>
          <a:xfrm>
            <a:off x="1588359" y="3796496"/>
            <a:ext cx="1791449" cy="369332"/>
          </a:xfrm>
          <a:prstGeom prst="rect">
            <a:avLst/>
          </a:prstGeom>
          <a:noFill/>
        </p:spPr>
        <p:txBody>
          <a:bodyPr wrap="square" rtlCol="0">
            <a:spAutoFit/>
          </a:bodyPr>
          <a:lstStyle/>
          <a:p>
            <a:pPr marL="285750" indent="-285750">
              <a:buFont typeface="Arial" panose="020B0604020202020204" pitchFamily="34" charset="0"/>
              <a:buChar char="•"/>
            </a:pPr>
            <a:r>
              <a:rPr lang="en-CA" dirty="0" err="1"/>
              <a:t>PsychoPy</a:t>
            </a:r>
            <a:endParaRPr lang="en-CA" dirty="0"/>
          </a:p>
        </p:txBody>
      </p:sp>
      <p:sp>
        <p:nvSpPr>
          <p:cNvPr id="6" name="TextBox 5">
            <a:extLst>
              <a:ext uri="{FF2B5EF4-FFF2-40B4-BE49-F238E27FC236}">
                <a16:creationId xmlns:a16="http://schemas.microsoft.com/office/drawing/2014/main" id="{7BF924E3-6C41-B7E7-EED4-A0AD094DBF1D}"/>
              </a:ext>
            </a:extLst>
          </p:cNvPr>
          <p:cNvSpPr txBox="1"/>
          <p:nvPr/>
        </p:nvSpPr>
        <p:spPr>
          <a:xfrm>
            <a:off x="4077148" y="3796496"/>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CA" dirty="0"/>
              <a:t>Pavlovia</a:t>
            </a:r>
          </a:p>
        </p:txBody>
      </p:sp>
      <p:sp>
        <p:nvSpPr>
          <p:cNvPr id="7" name="TextBox 6">
            <a:extLst>
              <a:ext uri="{FF2B5EF4-FFF2-40B4-BE49-F238E27FC236}">
                <a16:creationId xmlns:a16="http://schemas.microsoft.com/office/drawing/2014/main" id="{0CF855C0-E091-6AB0-24F4-F6C7D3CA09FA}"/>
              </a:ext>
            </a:extLst>
          </p:cNvPr>
          <p:cNvSpPr txBox="1"/>
          <p:nvPr/>
        </p:nvSpPr>
        <p:spPr>
          <a:xfrm>
            <a:off x="6474873" y="3761375"/>
            <a:ext cx="1879600" cy="1200329"/>
          </a:xfrm>
          <a:prstGeom prst="rect">
            <a:avLst/>
          </a:prstGeom>
          <a:noFill/>
        </p:spPr>
        <p:txBody>
          <a:bodyPr wrap="square" rtlCol="0">
            <a:spAutoFit/>
          </a:bodyPr>
          <a:lstStyle/>
          <a:p>
            <a:pPr marL="285750" indent="-285750">
              <a:buFont typeface="Arial" panose="020B0604020202020204" pitchFamily="34" charset="0"/>
              <a:buChar char="•"/>
            </a:pPr>
            <a:r>
              <a:rPr lang="en-CA" dirty="0"/>
              <a:t>Pavlovia Survey for online consent form</a:t>
            </a:r>
          </a:p>
        </p:txBody>
      </p:sp>
      <p:sp>
        <p:nvSpPr>
          <p:cNvPr id="8" name="TextBox 7">
            <a:extLst>
              <a:ext uri="{FF2B5EF4-FFF2-40B4-BE49-F238E27FC236}">
                <a16:creationId xmlns:a16="http://schemas.microsoft.com/office/drawing/2014/main" id="{9CBA5740-6570-B972-62AC-27E82D95070F}"/>
              </a:ext>
            </a:extLst>
          </p:cNvPr>
          <p:cNvSpPr txBox="1"/>
          <p:nvPr/>
        </p:nvSpPr>
        <p:spPr>
          <a:xfrm>
            <a:off x="9118245" y="3796496"/>
            <a:ext cx="1879600" cy="646331"/>
          </a:xfrm>
          <a:prstGeom prst="rect">
            <a:avLst/>
          </a:prstGeom>
          <a:noFill/>
        </p:spPr>
        <p:txBody>
          <a:bodyPr wrap="square" rtlCol="0">
            <a:spAutoFit/>
          </a:bodyPr>
          <a:lstStyle/>
          <a:p>
            <a:pPr marL="285750" indent="-285750">
              <a:buFont typeface="Arial" panose="020B0604020202020204" pitchFamily="34" charset="0"/>
              <a:buChar char="•"/>
            </a:pPr>
            <a:r>
              <a:rPr lang="en-CA" dirty="0"/>
              <a:t>URPP </a:t>
            </a:r>
          </a:p>
          <a:p>
            <a:pPr marL="285750" indent="-285750">
              <a:buFont typeface="Arial" panose="020B0604020202020204" pitchFamily="34" charset="0"/>
              <a:buChar char="•"/>
            </a:pPr>
            <a:r>
              <a:rPr lang="en-CA" dirty="0"/>
              <a:t>Prolific </a:t>
            </a:r>
          </a:p>
        </p:txBody>
      </p:sp>
      <p:pic>
        <p:nvPicPr>
          <p:cNvPr id="2" name="Picture 4" descr="Home — PsychoPy v3.0">
            <a:extLst>
              <a:ext uri="{FF2B5EF4-FFF2-40B4-BE49-F238E27FC236}">
                <a16:creationId xmlns:a16="http://schemas.microsoft.com/office/drawing/2014/main" id="{7C9636DE-5F32-1906-A118-6B9F6CDD5B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023" y="1850801"/>
            <a:ext cx="1867936" cy="79216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Pavlovia">
            <a:extLst>
              <a:ext uri="{FF2B5EF4-FFF2-40B4-BE49-F238E27FC236}">
                <a16:creationId xmlns:a16="http://schemas.microsoft.com/office/drawing/2014/main" id="{5E9C75FF-5528-85C2-9A81-E237C48CA5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6775" y="1749473"/>
            <a:ext cx="863639" cy="86363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Pavlovia">
            <a:extLst>
              <a:ext uri="{FF2B5EF4-FFF2-40B4-BE49-F238E27FC236}">
                <a16:creationId xmlns:a16="http://schemas.microsoft.com/office/drawing/2014/main" id="{16879A23-F41D-C2A8-0655-FEEA7409DF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7966" y="1888766"/>
            <a:ext cx="854171" cy="8541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pen Science Tools Ltd.">
            <a:extLst>
              <a:ext uri="{FF2B5EF4-FFF2-40B4-BE49-F238E27FC236}">
                <a16:creationId xmlns:a16="http://schemas.microsoft.com/office/drawing/2014/main" id="{6A8129FA-7502-7667-422B-AEB270D06B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4100" y="1817314"/>
            <a:ext cx="785002" cy="92531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SonaSystems - YouTube">
            <a:extLst>
              <a:ext uri="{FF2B5EF4-FFF2-40B4-BE49-F238E27FC236}">
                <a16:creationId xmlns:a16="http://schemas.microsoft.com/office/drawing/2014/main" id="{1E42AF92-9C05-9950-106A-C3C6EC9E9A45}"/>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5510" b="23733"/>
          <a:stretch/>
        </p:blipFill>
        <p:spPr bwMode="auto">
          <a:xfrm>
            <a:off x="9227467" y="2084622"/>
            <a:ext cx="1296395" cy="65800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rolific - Insight Platforms">
            <a:extLst>
              <a:ext uri="{FF2B5EF4-FFF2-40B4-BE49-F238E27FC236}">
                <a16:creationId xmlns:a16="http://schemas.microsoft.com/office/drawing/2014/main" id="{20979141-C05B-6A98-2036-823A8B6D8A99}"/>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40316" b="39196"/>
          <a:stretch/>
        </p:blipFill>
        <p:spPr bwMode="auto">
          <a:xfrm>
            <a:off x="8924149" y="1572628"/>
            <a:ext cx="1726331" cy="35368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close-up of a cube&#10;&#10;AI-generated content may be incorrect.">
            <a:extLst>
              <a:ext uri="{FF2B5EF4-FFF2-40B4-BE49-F238E27FC236}">
                <a16:creationId xmlns:a16="http://schemas.microsoft.com/office/drawing/2014/main" id="{77078BE7-130A-956F-B893-314EF7A6DC5E}"/>
              </a:ext>
            </a:extLst>
          </p:cNvPr>
          <p:cNvPicPr>
            <a:picLocks noChangeAspect="1"/>
          </p:cNvPicPr>
          <p:nvPr/>
        </p:nvPicPr>
        <p:blipFill>
          <a:blip r:embed="rId9">
            <a:extLst>
              <a:ext uri="{BEBA8EAE-BF5A-486C-A8C5-ECC9F3942E4B}">
                <a14:imgProps xmlns:a14="http://schemas.microsoft.com/office/drawing/2010/main">
                  <a14:imgLayer r:embed="rId10">
                    <a14:imgEffect>
                      <a14:artisticBlur/>
                    </a14:imgEffect>
                  </a14:imgLayer>
                </a14:imgProps>
              </a:ext>
            </a:extLst>
          </a:blip>
          <a:srcRect r="7356" b="12717"/>
          <a:stretch/>
        </p:blipFill>
        <p:spPr>
          <a:xfrm>
            <a:off x="8590801" y="1191678"/>
            <a:ext cx="3383486" cy="5049466"/>
          </a:xfrm>
          <a:prstGeom prst="rect">
            <a:avLst/>
          </a:prstGeom>
        </p:spPr>
      </p:pic>
      <p:pic>
        <p:nvPicPr>
          <p:cNvPr id="18" name="Picture 17" descr="A wooden cubes with words and symbols&#10;&#10;AI-generated content may be incorrect.">
            <a:extLst>
              <a:ext uri="{FF2B5EF4-FFF2-40B4-BE49-F238E27FC236}">
                <a16:creationId xmlns:a16="http://schemas.microsoft.com/office/drawing/2014/main" id="{F55BF066-A454-1570-F7A9-732D4591602A}"/>
              </a:ext>
            </a:extLst>
          </p:cNvPr>
          <p:cNvPicPr>
            <a:picLocks noChangeAspect="1"/>
          </p:cNvPicPr>
          <p:nvPr/>
        </p:nvPicPr>
        <p:blipFill>
          <a:blip r:embed="rId11">
            <a:extLst>
              <a:ext uri="{BEBA8EAE-BF5A-486C-A8C5-ECC9F3942E4B}">
                <a14:imgProps xmlns:a14="http://schemas.microsoft.com/office/drawing/2010/main">
                  <a14:imgLayer r:embed="rId12">
                    <a14:imgEffect>
                      <a14:artisticBlur/>
                    </a14:imgEffect>
                  </a14:imgLayer>
                </a14:imgProps>
              </a:ext>
            </a:extLst>
          </a:blip>
          <a:srcRect l="12151" b="9104"/>
          <a:stretch/>
        </p:blipFill>
        <p:spPr>
          <a:xfrm>
            <a:off x="667656" y="1079725"/>
            <a:ext cx="5611125" cy="5364618"/>
          </a:xfrm>
          <a:prstGeom prst="rect">
            <a:avLst/>
          </a:prstGeom>
        </p:spPr>
      </p:pic>
    </p:spTree>
    <p:extLst>
      <p:ext uri="{BB962C8B-B14F-4D97-AF65-F5344CB8AC3E}">
        <p14:creationId xmlns:p14="http://schemas.microsoft.com/office/powerpoint/2010/main" val="4123048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B03F-2D78-C853-2924-68A6D752D22C}"/>
            </a:ext>
          </a:extLst>
        </p:cNvPr>
        <p:cNvGrpSpPr/>
        <p:nvPr/>
      </p:nvGrpSpPr>
      <p:grpSpPr>
        <a:xfrm>
          <a:off x="0" y="0"/>
          <a:ext cx="0" cy="0"/>
          <a:chOff x="0" y="0"/>
          <a:chExt cx="0" cy="0"/>
        </a:xfrm>
      </p:grpSpPr>
      <p:pic>
        <p:nvPicPr>
          <p:cNvPr id="1026" name="Picture 2" descr="Toy Blocks Pictures | Download Free Images on Unsplash">
            <a:extLst>
              <a:ext uri="{FF2B5EF4-FFF2-40B4-BE49-F238E27FC236}">
                <a16:creationId xmlns:a16="http://schemas.microsoft.com/office/drawing/2014/main" id="{398B664C-1624-D929-F2B4-203372D860C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56" t="10157" r="6403" b="15939"/>
          <a:stretch/>
        </p:blipFill>
        <p:spPr bwMode="auto">
          <a:xfrm>
            <a:off x="0" y="0"/>
            <a:ext cx="12190476" cy="68579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0FABF50-14BB-19AC-4EA8-1DBAB9CB078C}"/>
              </a:ext>
            </a:extLst>
          </p:cNvPr>
          <p:cNvSpPr txBox="1"/>
          <p:nvPr/>
        </p:nvSpPr>
        <p:spPr>
          <a:xfrm>
            <a:off x="1588359" y="2719251"/>
            <a:ext cx="1879600" cy="523220"/>
          </a:xfrm>
          <a:prstGeom prst="rect">
            <a:avLst/>
          </a:prstGeom>
          <a:noFill/>
        </p:spPr>
        <p:txBody>
          <a:bodyPr wrap="square" rtlCol="0">
            <a:spAutoFit/>
          </a:bodyPr>
          <a:lstStyle/>
          <a:p>
            <a:pPr algn="ctr"/>
            <a:r>
              <a:rPr lang="en-US" sz="2800" dirty="0"/>
              <a:t>Building </a:t>
            </a:r>
          </a:p>
        </p:txBody>
      </p:sp>
      <p:sp>
        <p:nvSpPr>
          <p:cNvPr id="10" name="TextBox 9">
            <a:extLst>
              <a:ext uri="{FF2B5EF4-FFF2-40B4-BE49-F238E27FC236}">
                <a16:creationId xmlns:a16="http://schemas.microsoft.com/office/drawing/2014/main" id="{CF16E31D-E3D9-BCF3-4942-5B4317C87373}"/>
              </a:ext>
            </a:extLst>
          </p:cNvPr>
          <p:cNvSpPr txBox="1"/>
          <p:nvPr/>
        </p:nvSpPr>
        <p:spPr>
          <a:xfrm>
            <a:off x="4077148" y="2719251"/>
            <a:ext cx="1879600" cy="523220"/>
          </a:xfrm>
          <a:prstGeom prst="rect">
            <a:avLst/>
          </a:prstGeom>
          <a:noFill/>
        </p:spPr>
        <p:txBody>
          <a:bodyPr wrap="square" rtlCol="0">
            <a:spAutoFit/>
          </a:bodyPr>
          <a:lstStyle/>
          <a:p>
            <a:pPr algn="ctr"/>
            <a:r>
              <a:rPr lang="en-US" sz="2800" dirty="0"/>
              <a:t>Hosting</a:t>
            </a:r>
          </a:p>
        </p:txBody>
      </p:sp>
      <p:sp>
        <p:nvSpPr>
          <p:cNvPr id="11" name="TextBox 10">
            <a:extLst>
              <a:ext uri="{FF2B5EF4-FFF2-40B4-BE49-F238E27FC236}">
                <a16:creationId xmlns:a16="http://schemas.microsoft.com/office/drawing/2014/main" id="{47B7E050-B3C0-878A-F821-59ABB94C8347}"/>
              </a:ext>
            </a:extLst>
          </p:cNvPr>
          <p:cNvSpPr txBox="1"/>
          <p:nvPr/>
        </p:nvSpPr>
        <p:spPr>
          <a:xfrm>
            <a:off x="6474873" y="2671178"/>
            <a:ext cx="1968459" cy="523220"/>
          </a:xfrm>
          <a:prstGeom prst="rect">
            <a:avLst/>
          </a:prstGeom>
          <a:noFill/>
        </p:spPr>
        <p:txBody>
          <a:bodyPr wrap="square" rtlCol="0">
            <a:spAutoFit/>
          </a:bodyPr>
          <a:lstStyle/>
          <a:p>
            <a:pPr algn="ctr"/>
            <a:r>
              <a:rPr lang="en-US" sz="2800" dirty="0"/>
              <a:t>Consent</a:t>
            </a:r>
          </a:p>
        </p:txBody>
      </p:sp>
      <p:sp>
        <p:nvSpPr>
          <p:cNvPr id="12" name="TextBox 11">
            <a:extLst>
              <a:ext uri="{FF2B5EF4-FFF2-40B4-BE49-F238E27FC236}">
                <a16:creationId xmlns:a16="http://schemas.microsoft.com/office/drawing/2014/main" id="{C16F9E27-23DE-1E28-CE43-3FC859D53F5D}"/>
              </a:ext>
            </a:extLst>
          </p:cNvPr>
          <p:cNvSpPr txBox="1"/>
          <p:nvPr/>
        </p:nvSpPr>
        <p:spPr>
          <a:xfrm>
            <a:off x="8838471" y="2719251"/>
            <a:ext cx="2113075" cy="523220"/>
          </a:xfrm>
          <a:prstGeom prst="rect">
            <a:avLst/>
          </a:prstGeom>
          <a:noFill/>
        </p:spPr>
        <p:txBody>
          <a:bodyPr wrap="square" rtlCol="0">
            <a:spAutoFit/>
          </a:bodyPr>
          <a:lstStyle/>
          <a:p>
            <a:pPr algn="ctr"/>
            <a:r>
              <a:rPr lang="en-US" sz="2800" dirty="0"/>
              <a:t>Recruitment</a:t>
            </a:r>
          </a:p>
        </p:txBody>
      </p:sp>
      <p:sp>
        <p:nvSpPr>
          <p:cNvPr id="4" name="TextBox 3">
            <a:extLst>
              <a:ext uri="{FF2B5EF4-FFF2-40B4-BE49-F238E27FC236}">
                <a16:creationId xmlns:a16="http://schemas.microsoft.com/office/drawing/2014/main" id="{F34D8F21-4A79-3E43-8205-0E37656D0F76}"/>
              </a:ext>
            </a:extLst>
          </p:cNvPr>
          <p:cNvSpPr txBox="1"/>
          <p:nvPr/>
        </p:nvSpPr>
        <p:spPr>
          <a:xfrm>
            <a:off x="2187615" y="127321"/>
            <a:ext cx="7998107" cy="707886"/>
          </a:xfrm>
          <a:prstGeom prst="rect">
            <a:avLst/>
          </a:prstGeom>
          <a:noFill/>
        </p:spPr>
        <p:txBody>
          <a:bodyPr wrap="square" rtlCol="0">
            <a:spAutoFit/>
          </a:bodyPr>
          <a:lstStyle/>
          <a:p>
            <a:pPr algn="ctr"/>
            <a:r>
              <a:rPr lang="en-CA" sz="4000" b="1" dirty="0">
                <a:solidFill>
                  <a:srgbClr val="D55953"/>
                </a:solidFill>
              </a:rPr>
              <a:t>Online Experiment</a:t>
            </a:r>
          </a:p>
        </p:txBody>
      </p:sp>
      <p:sp>
        <p:nvSpPr>
          <p:cNvPr id="5" name="TextBox 4">
            <a:extLst>
              <a:ext uri="{FF2B5EF4-FFF2-40B4-BE49-F238E27FC236}">
                <a16:creationId xmlns:a16="http://schemas.microsoft.com/office/drawing/2014/main" id="{AB11BDE4-00AF-5F59-332A-A971C686DC02}"/>
              </a:ext>
            </a:extLst>
          </p:cNvPr>
          <p:cNvSpPr txBox="1"/>
          <p:nvPr/>
        </p:nvSpPr>
        <p:spPr>
          <a:xfrm>
            <a:off x="1588359" y="3796496"/>
            <a:ext cx="1791449" cy="369332"/>
          </a:xfrm>
          <a:prstGeom prst="rect">
            <a:avLst/>
          </a:prstGeom>
          <a:noFill/>
        </p:spPr>
        <p:txBody>
          <a:bodyPr wrap="square" rtlCol="0">
            <a:spAutoFit/>
          </a:bodyPr>
          <a:lstStyle/>
          <a:p>
            <a:pPr marL="285750" indent="-285750">
              <a:buFont typeface="Arial" panose="020B0604020202020204" pitchFamily="34" charset="0"/>
              <a:buChar char="•"/>
            </a:pPr>
            <a:r>
              <a:rPr lang="en-CA" dirty="0" err="1"/>
              <a:t>PsychoPy</a:t>
            </a:r>
            <a:endParaRPr lang="en-CA" dirty="0"/>
          </a:p>
        </p:txBody>
      </p:sp>
      <p:sp>
        <p:nvSpPr>
          <p:cNvPr id="6" name="TextBox 5">
            <a:extLst>
              <a:ext uri="{FF2B5EF4-FFF2-40B4-BE49-F238E27FC236}">
                <a16:creationId xmlns:a16="http://schemas.microsoft.com/office/drawing/2014/main" id="{61F73CF8-FBF6-873D-458E-AA59B2E980BA}"/>
              </a:ext>
            </a:extLst>
          </p:cNvPr>
          <p:cNvSpPr txBox="1"/>
          <p:nvPr/>
        </p:nvSpPr>
        <p:spPr>
          <a:xfrm>
            <a:off x="4077148" y="3796496"/>
            <a:ext cx="1879600" cy="369332"/>
          </a:xfrm>
          <a:prstGeom prst="rect">
            <a:avLst/>
          </a:prstGeom>
          <a:noFill/>
        </p:spPr>
        <p:txBody>
          <a:bodyPr wrap="square" rtlCol="0">
            <a:spAutoFit/>
          </a:bodyPr>
          <a:lstStyle/>
          <a:p>
            <a:pPr marL="285750" indent="-285750">
              <a:buFont typeface="Arial" panose="020B0604020202020204" pitchFamily="34" charset="0"/>
              <a:buChar char="•"/>
            </a:pPr>
            <a:r>
              <a:rPr lang="en-CA" dirty="0"/>
              <a:t>Pavlovia</a:t>
            </a:r>
          </a:p>
        </p:txBody>
      </p:sp>
      <p:sp>
        <p:nvSpPr>
          <p:cNvPr id="7" name="TextBox 6">
            <a:extLst>
              <a:ext uri="{FF2B5EF4-FFF2-40B4-BE49-F238E27FC236}">
                <a16:creationId xmlns:a16="http://schemas.microsoft.com/office/drawing/2014/main" id="{6B9BC765-7F1A-CAED-8E51-60C0E02F1EB8}"/>
              </a:ext>
            </a:extLst>
          </p:cNvPr>
          <p:cNvSpPr txBox="1"/>
          <p:nvPr/>
        </p:nvSpPr>
        <p:spPr>
          <a:xfrm>
            <a:off x="6474873" y="3761375"/>
            <a:ext cx="1879600" cy="1200329"/>
          </a:xfrm>
          <a:prstGeom prst="rect">
            <a:avLst/>
          </a:prstGeom>
          <a:noFill/>
        </p:spPr>
        <p:txBody>
          <a:bodyPr wrap="square" rtlCol="0">
            <a:spAutoFit/>
          </a:bodyPr>
          <a:lstStyle/>
          <a:p>
            <a:pPr marL="285750" indent="-285750">
              <a:buFont typeface="Arial" panose="020B0604020202020204" pitchFamily="34" charset="0"/>
              <a:buChar char="•"/>
            </a:pPr>
            <a:r>
              <a:rPr lang="en-CA" dirty="0"/>
              <a:t>Pavlovia Survey for online consent form</a:t>
            </a:r>
          </a:p>
        </p:txBody>
      </p:sp>
      <p:sp>
        <p:nvSpPr>
          <p:cNvPr id="8" name="TextBox 7">
            <a:extLst>
              <a:ext uri="{FF2B5EF4-FFF2-40B4-BE49-F238E27FC236}">
                <a16:creationId xmlns:a16="http://schemas.microsoft.com/office/drawing/2014/main" id="{0F8EDAAB-5FFE-53AA-7EEF-2EDB6508D257}"/>
              </a:ext>
            </a:extLst>
          </p:cNvPr>
          <p:cNvSpPr txBox="1"/>
          <p:nvPr/>
        </p:nvSpPr>
        <p:spPr>
          <a:xfrm>
            <a:off x="9118245" y="3796496"/>
            <a:ext cx="1879600" cy="646331"/>
          </a:xfrm>
          <a:prstGeom prst="rect">
            <a:avLst/>
          </a:prstGeom>
          <a:noFill/>
        </p:spPr>
        <p:txBody>
          <a:bodyPr wrap="square" rtlCol="0">
            <a:spAutoFit/>
          </a:bodyPr>
          <a:lstStyle/>
          <a:p>
            <a:pPr marL="285750" indent="-285750">
              <a:buFont typeface="Arial" panose="020B0604020202020204" pitchFamily="34" charset="0"/>
              <a:buChar char="•"/>
            </a:pPr>
            <a:r>
              <a:rPr lang="en-CA" dirty="0"/>
              <a:t>URPP </a:t>
            </a:r>
          </a:p>
          <a:p>
            <a:pPr marL="285750" indent="-285750">
              <a:buFont typeface="Arial" panose="020B0604020202020204" pitchFamily="34" charset="0"/>
              <a:buChar char="•"/>
            </a:pPr>
            <a:r>
              <a:rPr lang="en-CA" dirty="0"/>
              <a:t>Prolific </a:t>
            </a:r>
          </a:p>
        </p:txBody>
      </p:sp>
      <p:pic>
        <p:nvPicPr>
          <p:cNvPr id="2" name="Picture 4" descr="Home — PsychoPy v3.0">
            <a:extLst>
              <a:ext uri="{FF2B5EF4-FFF2-40B4-BE49-F238E27FC236}">
                <a16:creationId xmlns:a16="http://schemas.microsoft.com/office/drawing/2014/main" id="{1FA86F66-B53C-EC3B-1469-3F9DF89228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023" y="1850801"/>
            <a:ext cx="1867936" cy="79216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Pavlovia">
            <a:extLst>
              <a:ext uri="{FF2B5EF4-FFF2-40B4-BE49-F238E27FC236}">
                <a16:creationId xmlns:a16="http://schemas.microsoft.com/office/drawing/2014/main" id="{235CF6D7-9074-C742-A937-3613655D5A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6775" y="1749473"/>
            <a:ext cx="863639" cy="86363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Pavlovia">
            <a:extLst>
              <a:ext uri="{FF2B5EF4-FFF2-40B4-BE49-F238E27FC236}">
                <a16:creationId xmlns:a16="http://schemas.microsoft.com/office/drawing/2014/main" id="{F429CE25-F7D7-C0A3-52E3-4A6B23D280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7966" y="1888766"/>
            <a:ext cx="854171" cy="8541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Open Science Tools Ltd.">
            <a:extLst>
              <a:ext uri="{FF2B5EF4-FFF2-40B4-BE49-F238E27FC236}">
                <a16:creationId xmlns:a16="http://schemas.microsoft.com/office/drawing/2014/main" id="{B7B5CD85-D6C3-912E-917C-2456880408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4100" y="1817314"/>
            <a:ext cx="785002" cy="92531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descr="SonaSystems - YouTube">
            <a:extLst>
              <a:ext uri="{FF2B5EF4-FFF2-40B4-BE49-F238E27FC236}">
                <a16:creationId xmlns:a16="http://schemas.microsoft.com/office/drawing/2014/main" id="{C4E06BA9-24BB-ED27-40C1-56A81D94AFF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25510" b="23733"/>
          <a:stretch/>
        </p:blipFill>
        <p:spPr bwMode="auto">
          <a:xfrm>
            <a:off x="9227467" y="2084622"/>
            <a:ext cx="1296395" cy="65800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Prolific - Insight Platforms">
            <a:extLst>
              <a:ext uri="{FF2B5EF4-FFF2-40B4-BE49-F238E27FC236}">
                <a16:creationId xmlns:a16="http://schemas.microsoft.com/office/drawing/2014/main" id="{8A2DDE07-2699-CE71-C8D9-D038412E93A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40316" b="39196"/>
          <a:stretch/>
        </p:blipFill>
        <p:spPr bwMode="auto">
          <a:xfrm>
            <a:off x="8924149" y="1572628"/>
            <a:ext cx="1726331" cy="35368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wooden cubes with words and symbols&#10;&#10;AI-generated content may be incorrect.">
            <a:extLst>
              <a:ext uri="{FF2B5EF4-FFF2-40B4-BE49-F238E27FC236}">
                <a16:creationId xmlns:a16="http://schemas.microsoft.com/office/drawing/2014/main" id="{405EBABF-8D40-D4B1-25BB-D943A8E62DCA}"/>
              </a:ext>
            </a:extLst>
          </p:cNvPr>
          <p:cNvPicPr>
            <a:picLocks noChangeAspect="1"/>
          </p:cNvPicPr>
          <p:nvPr/>
        </p:nvPicPr>
        <p:blipFill>
          <a:blip r:embed="rId9">
            <a:extLst>
              <a:ext uri="{BEBA8EAE-BF5A-486C-A8C5-ECC9F3942E4B}">
                <a14:imgProps xmlns:a14="http://schemas.microsoft.com/office/drawing/2010/main">
                  <a14:imgLayer r:embed="rId10">
                    <a14:imgEffect>
                      <a14:artisticBlur/>
                    </a14:imgEffect>
                  </a14:imgLayer>
                </a14:imgProps>
              </a:ext>
            </a:extLst>
          </a:blip>
          <a:stretch>
            <a:fillRect/>
          </a:stretch>
        </p:blipFill>
        <p:spPr>
          <a:xfrm>
            <a:off x="769863" y="1062290"/>
            <a:ext cx="7772400" cy="5569649"/>
          </a:xfrm>
          <a:prstGeom prst="rect">
            <a:avLst/>
          </a:prstGeom>
        </p:spPr>
      </p:pic>
    </p:spTree>
    <p:extLst>
      <p:ext uri="{BB962C8B-B14F-4D97-AF65-F5344CB8AC3E}">
        <p14:creationId xmlns:p14="http://schemas.microsoft.com/office/powerpoint/2010/main" val="3442012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6" name="TextBox 1">
            <a:extLst>
              <a:ext uri="{FF2B5EF4-FFF2-40B4-BE49-F238E27FC236}">
                <a16:creationId xmlns:a16="http://schemas.microsoft.com/office/drawing/2014/main" id="{44A4673C-B099-A770-AA2C-7C31551D921B}"/>
              </a:ext>
            </a:extLst>
          </p:cNvPr>
          <p:cNvGraphicFramePr/>
          <p:nvPr>
            <p:extLst>
              <p:ext uri="{D42A27DB-BD31-4B8C-83A1-F6EECF244321}">
                <p14:modId xmlns:p14="http://schemas.microsoft.com/office/powerpoint/2010/main" val="2594711245"/>
              </p:ext>
            </p:extLst>
          </p:nvPr>
        </p:nvGraphicFramePr>
        <p:xfrm>
          <a:off x="6418384" y="-79653"/>
          <a:ext cx="5609493" cy="70173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A picture containing text, clock&#10;&#10;Description automatically generated">
            <a:extLst>
              <a:ext uri="{FF2B5EF4-FFF2-40B4-BE49-F238E27FC236}">
                <a16:creationId xmlns:a16="http://schemas.microsoft.com/office/drawing/2014/main" id="{EC4D6181-6654-B159-8759-190FC8504E8D}"/>
              </a:ext>
            </a:extLst>
          </p:cNvPr>
          <p:cNvPicPr>
            <a:picLocks noChangeAspect="1"/>
          </p:cNvPicPr>
          <p:nvPr/>
        </p:nvPicPr>
        <p:blipFill rotWithShape="1">
          <a:blip r:embed="rId7"/>
          <a:srcRect l="16752" r="10422" b="10071"/>
          <a:stretch/>
        </p:blipFill>
        <p:spPr>
          <a:xfrm>
            <a:off x="0" y="0"/>
            <a:ext cx="6254261" cy="6858000"/>
          </a:xfrm>
          <a:prstGeom prst="rect">
            <a:avLst/>
          </a:prstGeom>
        </p:spPr>
      </p:pic>
    </p:spTree>
    <p:extLst>
      <p:ext uri="{BB962C8B-B14F-4D97-AF65-F5344CB8AC3E}">
        <p14:creationId xmlns:p14="http://schemas.microsoft.com/office/powerpoint/2010/main" val="29837202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7146</TotalTime>
  <Words>410</Words>
  <Application>Microsoft Macintosh PowerPoint</Application>
  <PresentationFormat>Widescreen</PresentationFormat>
  <Paragraphs>123</Paragraphs>
  <Slides>18</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Helvetica Neue</vt:lpstr>
      <vt:lpstr>Lucida Handwriting</vt:lpstr>
      <vt:lpstr>Trebuchet MS</vt:lpstr>
      <vt:lpstr>Office Theme</vt:lpstr>
      <vt:lpstr>Building Online Experiments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experiment using PsychoPy</dc:title>
  <dc:creator>Tasfia Ahsan</dc:creator>
  <cp:lastModifiedBy>Tasfia Ahsan</cp:lastModifiedBy>
  <cp:revision>214</cp:revision>
  <dcterms:created xsi:type="dcterms:W3CDTF">2021-06-28T01:17:49Z</dcterms:created>
  <dcterms:modified xsi:type="dcterms:W3CDTF">2025-11-21T18:32:21Z</dcterms:modified>
</cp:coreProperties>
</file>